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one-sentence pitch:</a:t>
            </a:r>
          </a:p>
          <a:p/>
          <a:p>
            <a:r>
              <a:t>"ForestLens turns high-resolution forest imagery into individual tree detections and an auditable canopy-area estimate — and it shows you where it fails."</a:t>
            </a:r>
          </a:p>
          <a:p/>
          <a:p>
            <a:r>
              <a:t>Then say what the deck is about: three findings that constrain what this kind of tool can honestly claim. Don't lead with the technology; lead with the findings.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point that the third criterion is the hard one. Anyone can get a detector to emit a number; the difficulty is knowing which numbers you're entitled to report.</a:t>
            </a:r>
          </a:p>
          <a:p/>
          <a:p>
            <a:r>
              <a:t>If asked why canopy area is harder than counting: counting needs the crowns to be separable, area needs them to be complete. Those fail in different conditions — which is slide 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Each line is enforced in code and covered by a test — they are not aspirations.</a:t>
            </a:r>
          </a:p>
          <a:p/>
          <a:p>
            <a:r>
              <a:t>The last one usually gets a reaction at a carbon company. Be ready to defend it: declining to convert area to carbon is a correctness property, not a missing feature. Offering a carbon number from RGB geometry alone would be the single least defensible thing this tool could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"why not NEON for the 10 cm scene?" Answer: NEON is what DeepForest was trained on, possibly including those very tiles. It would show behaviour at native resolution while testing nothing about generalisation. SWISSIMAGE gives the same resolution over structurally different forest, which separates resolution from familiarity — and that separation is what produced the headline finding.</a:t>
            </a:r>
          </a:p>
          <a:p/>
          <a:p>
            <a:r>
              <a:t>If asked about the licence: I read the terms for the exact asset, not the programme page, and recorded them. A carbon company will care.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then give the arithmetic. Two details worth volunteering:</a:t>
            </a:r>
          </a:p>
          <a:p/>
          <a:p>
            <a:r>
              <a:t>1. Boxes found on the resampled copy are mapped back into source-raster pixels, so annotation, area and GeoJSON all share one coordinate frame.</a:t>
            </a:r>
          </a:p>
          <a:p>
            <a:r>
              <a:t>2. Cover uses the union, not the sum. I found the sum double-counting overlaps while building the cover bracket — the sum is still reported, but as crown area, not cover.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trap on this slide is that 57 → 695 looks like an improvement. It is not a result; it is evidence that the input scale was wrong. Say that before they ask.</a:t>
            </a:r>
          </a:p>
          <a:p/>
          <a:p>
            <a:r>
              <a:t>"Isn't upsampling cheating?" — It adds no information and the app says so on screen. It presents crowns at the pixel size the model expects. What would be cheating is picking 4× because 836 looked better; since the count rises monotonically and never plateaus, the only defensible anchor is the documented training resolution.</a:t>
            </a:r>
          </a:p>
          <a:p/>
          <a:p>
            <a:r>
              <a:t>Whether 695 is right is slide 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slide in the deck and the one to lead with if time is short.</a:t>
            </a:r>
          </a:p>
          <a:p/>
          <a:p>
            <a:r>
              <a:t>I sourced the Swiss scene specifically to test this, and deliberately avoided NEON so that resolution and familiarity were separable. The result was the opposite of what I expected going in.</a:t>
            </a:r>
          </a:p>
          <a:p/>
          <a:p>
            <a:r>
              <a:t>If asked what would fix it: fine-tuning on closed-canopy imagery. No threshold setting reaches an 80% miss rate — I tried.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"a 75-point range isn't very useful." Agree — and that is the finding. A useless honest answer beats a useful false one, and it tells you which instrument you actually need.</a:t>
            </a:r>
          </a:p>
          <a:p/>
          <a:p>
            <a:r>
              <a:t>The right instrument for cover is a canopy-versus-ground segmentation model. Crown detection answers "how many trees"; it is the wrong tool for "how much cover". That's my first recommendation for next steps.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the amber box. Volunteering the weakness before being asked is the whole point of the project.</a:t>
            </a:r>
          </a:p>
          <a:p/>
          <a:p>
            <a:r>
              <a:t>If you have since counted the crops yourself, replace these numbers with yours and say so — that converts the weakest part of the submission into a number you can defend as your own.</a:t>
            </a:r>
          </a:p>
          <a:p/>
          <a:p>
            <a:r>
              <a:t>"How accurate is it?" — I don't publish an accuracy figure. There's no labelled evaluation set for these scenes, and eyeballing an overlay doesn't give precision or recall. What I have is this table, with its provenance stated.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show method rather than results. Interviewers can tell the difference between someone who got a pipeline working and someone who interrogated it.</a:t>
            </a:r>
          </a:p>
          <a:p/>
          <a:p>
            <a:r>
              <a:t>The channel-order check is the strongest single anecdote in the deck: a stale docstring would have silently invalidated every count, and the only reason it didn't is that I tested the claim instead of trusting it.</a:t>
            </a:r>
          </a:p>
          <a:p/>
          <a:p>
            <a:r>
              <a:t>The texture rejection is the one that shows judgement: I had a fix that made the demo scene look right and declined to ship it because it would break elsewhere.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the interviewer is technical. Two things to emphasise:</a:t>
            </a:r>
          </a:p>
          <a:p/>
          <a:p>
            <a:r>
              <a:t>1. The tests cover the arithmetic, not the model. That's deliberate — I can't test DeepForest's weights, but I can guarantee that pixel count × GSD² is right and that an unknown GSD withholds area.</a:t>
            </a:r>
          </a:p>
          <a:p>
            <a:r>
              <a:t>2. I found and fixed a real defect through this: the area formula existed in three places, and the one the tests covered was the one the app never called. Consolidating it meant the tests finally pinned the shipped numbers.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quote — it is the thesis of the whole project in one sentence.</a:t>
            </a:r>
          </a:p>
          <a:p/>
          <a:p>
            <a:r>
              <a:t>The ordering of next steps is deliberate and worth saying out loud: reference counts first, because without them every figure in the deck is only plausible. Then fine-tuning, because it attacks the dominant error. The segmentation model third, because it fixes the wrong-instrument problem for cover.</a:t>
            </a:r>
          </a:p>
          <a:p/>
          <a:p>
            <a:r>
              <a:t>If asked "what would you do differently?" — I'd source the closed-canopy scene on day one. It produced the most important finding and I found it late.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5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920240"/>
            <a:ext cx="9601200" cy="2926080"/>
          </a:xfrm>
          <a:prstGeom prst="rect">
            <a:avLst/>
          </a:prstGeom>
          <a:noFill/>
        </p:spPr>
        <p:txBody>
          <a:bodyPr wrap="square" anchor="t" lIns="0" rIns="0" tIns="0" bIns="0">
            <a:spAutoFit/>
          </a:bodyPr>
          <a:lstStyle/>
          <a:p>
            <a:pPr algn="l">
              <a:lnSpc>
                <a:spcPct val="100000"/>
              </a:lnSpc>
              <a:spcAft>
                <a:spcPts val="1600"/>
              </a:spcAft>
            </a:pPr>
            <a:r>
              <a:rPr sz="1200" b="1" i="0">
                <a:solidFill>
                  <a:srgbClr val="8FC7A9"/>
                </a:solidFill>
                <a:latin typeface="Calibri"/>
              </a:rPr>
              <a:t>FLORA CARBON AI  ·  HIRING HACKATHON</a:t>
            </a:r>
          </a:p>
          <a:p>
            <a:pPr algn="l">
              <a:lnSpc>
                <a:spcPct val="90000"/>
              </a:lnSpc>
              <a:spcAft>
                <a:spcPts val="1000"/>
              </a:spcAft>
            </a:pPr>
            <a:r>
              <a:rPr sz="5400" b="1" i="0">
                <a:solidFill>
                  <a:srgbClr val="FFFFFF"/>
                </a:solidFill>
                <a:latin typeface="Calibri"/>
              </a:rPr>
              <a:t>ForestLens</a:t>
            </a:r>
          </a:p>
          <a:p>
            <a:pPr algn="l">
              <a:lnSpc>
                <a:spcPct val="110000"/>
              </a:lnSpc>
              <a:spcAft>
                <a:spcPts val="2200"/>
              </a:spcAft>
            </a:pPr>
            <a:r>
              <a:rPr sz="2100" b="0" i="0">
                <a:solidFill>
                  <a:srgbClr val="D6E7DC"/>
                </a:solidFill>
                <a:latin typeface="Calibri"/>
              </a:rPr>
              <a:t>Counting tree crowns and bounding canopy area in</a:t>
            </a:r>
            <a:br/>
            <a:r>
              <a:rPr sz="2100" b="0" i="0">
                <a:solidFill>
                  <a:srgbClr val="D6E7DC"/>
                </a:solidFill>
                <a:latin typeface="Calibri"/>
              </a:rPr>
              <a:t>high-resolution forest imagery</a:t>
            </a:r>
          </a:p>
          <a:p>
            <a:pPr algn="l">
              <a:lnSpc>
                <a:spcPct val="100000"/>
              </a:lnSpc>
              <a:spcAft>
                <a:spcPts val="400"/>
              </a:spcAft>
            </a:pPr>
            <a:r>
              <a:rPr sz="1500" b="0" i="0">
                <a:solidFill>
                  <a:srgbClr val="A9CEBA"/>
                </a:solidFill>
                <a:latin typeface="Calibri"/>
              </a:rPr>
              <a:t>Ravi Yadav  ·  September 2026</a:t>
            </a:r>
          </a:p>
          <a:p>
            <a:pPr algn="l">
              <a:lnSpc>
                <a:spcPct val="100000"/>
              </a:lnSpc>
              <a:spcAft>
                <a:spcPts val="0"/>
              </a:spcAft>
            </a:pPr>
            <a:r>
              <a:rPr sz="1300" b="0" i="0">
                <a:solidFill>
                  <a:srgbClr val="8FC7A9"/>
                </a:solidFill>
                <a:latin typeface="Calibri"/>
              </a:rPr>
              <a:t>Live demo + source: github.com/RAVIYADAV6522/forestlens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THE TASK</a:t>
            </a:r>
          </a:p>
          <a:p>
            <a:pPr algn="l">
              <a:lnSpc>
                <a:spcPct val="95000"/>
              </a:lnSpc>
              <a:spcAft>
                <a:spcPts val="0"/>
              </a:spcAft>
            </a:pPr>
            <a:r>
              <a:rPr sz="2700" b="1" i="0">
                <a:solidFill>
                  <a:srgbClr val="111418"/>
                </a:solidFill>
                <a:latin typeface="Calibri"/>
              </a:rPr>
              <a:t>The brief, and the bar it set</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2</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sp>
        <p:nvSpPr>
          <p:cNvPr id="6" name="TextBox 5"/>
          <p:cNvSpPr txBox="1"/>
          <p:nvPr/>
        </p:nvSpPr>
        <p:spPr>
          <a:xfrm>
            <a:off x="658368" y="1783080"/>
            <a:ext cx="5577840" cy="4251960"/>
          </a:xfrm>
          <a:prstGeom prst="rect">
            <a:avLst/>
          </a:prstGeom>
          <a:noFill/>
        </p:spPr>
        <p:txBody>
          <a:bodyPr wrap="square" anchor="t" lIns="0" rIns="0" tIns="0" bIns="0">
            <a:spAutoFit/>
          </a:bodyPr>
          <a:lstStyle/>
          <a:p>
            <a:pPr>
              <a:lnSpc>
                <a:spcPct val="114000"/>
              </a:lnSpc>
              <a:spcAft>
                <a:spcPts val="1100"/>
              </a:spcAft>
            </a:pPr>
            <a:r>
              <a:rPr b="1" sz="1500">
                <a:solidFill>
                  <a:srgbClr val="111418"/>
                </a:solidFill>
                <a:latin typeface="Calibri"/>
              </a:rPr>
              <a:t>Input. </a:t>
            </a:r>
            <a:r>
              <a:rPr sz="1500">
                <a:solidFill>
                  <a:srgbClr val="3B4250"/>
                </a:solidFill>
                <a:latin typeface="Calibri"/>
              </a:rPr>
              <a:t>High-resolution satellite imagery of a forest. Source it yourself.</a:t>
            </a:r>
          </a:p>
          <a:p>
            <a:pPr>
              <a:lnSpc>
                <a:spcPct val="114000"/>
              </a:lnSpc>
              <a:spcAft>
                <a:spcPts val="1100"/>
              </a:spcAft>
            </a:pPr>
            <a:r>
              <a:rPr b="1" sz="1500">
                <a:solidFill>
                  <a:srgbClr val="111418"/>
                </a:solidFill>
                <a:latin typeface="Calibri"/>
              </a:rPr>
              <a:t>Task 1. </a:t>
            </a:r>
            <a:r>
              <a:rPr sz="1500">
                <a:solidFill>
                  <a:srgbClr val="3B4250"/>
                </a:solidFill>
                <a:latin typeface="Calibri"/>
              </a:rPr>
              <a:t>Count the individual tree crowns.</a:t>
            </a:r>
          </a:p>
          <a:p>
            <a:pPr>
              <a:lnSpc>
                <a:spcPct val="114000"/>
              </a:lnSpc>
              <a:spcAft>
                <a:spcPts val="1100"/>
              </a:spcAft>
            </a:pPr>
            <a:r>
              <a:rPr b="1" sz="1500">
                <a:solidFill>
                  <a:srgbClr val="111418"/>
                </a:solidFill>
                <a:latin typeface="Calibri"/>
              </a:rPr>
              <a:t>Task 2. </a:t>
            </a:r>
            <a:r>
              <a:rPr sz="1500">
                <a:solidFill>
                  <a:srgbClr val="3B4250"/>
                </a:solidFill>
                <a:latin typeface="Calibri"/>
              </a:rPr>
              <a:t>Estimate the canopy area those crowns cover.</a:t>
            </a:r>
          </a:p>
          <a:p>
            <a:pPr>
              <a:lnSpc>
                <a:spcPct val="114000"/>
              </a:lnSpc>
              <a:spcAft>
                <a:spcPts val="1100"/>
              </a:spcAft>
            </a:pPr>
            <a:r>
              <a:rPr b="1" sz="1500">
                <a:solidFill>
                  <a:srgbClr val="111418"/>
                </a:solidFill>
                <a:latin typeface="Calibri"/>
              </a:rPr>
              <a:t>Constraints. </a:t>
            </a:r>
            <a:r>
              <a:rPr sz="1500">
                <a:solidFill>
                  <a:srgbClr val="3B4250"/>
                </a:solidFill>
                <a:latin typeface="Calibri"/>
              </a:rPr>
              <a:t>Solo, one weekend, any stack.</a:t>
            </a:r>
          </a:p>
        </p:txBody>
      </p:sp>
      <p:sp>
        <p:nvSpPr>
          <p:cNvPr id="7" name="TextBox 6"/>
          <p:cNvSpPr txBox="1"/>
          <p:nvPr/>
        </p:nvSpPr>
        <p:spPr>
          <a:xfrm>
            <a:off x="6492240" y="1783080"/>
            <a:ext cx="5029200" cy="365760"/>
          </a:xfrm>
          <a:prstGeom prst="rect">
            <a:avLst/>
          </a:prstGeom>
          <a:noFill/>
        </p:spPr>
        <p:txBody>
          <a:bodyPr wrap="square" anchor="t" lIns="0" rIns="0" tIns="0" bIns="0">
            <a:spAutoFit/>
          </a:bodyPr>
          <a:lstStyle/>
          <a:p>
            <a:pPr algn="l">
              <a:lnSpc>
                <a:spcPct val="100000"/>
              </a:lnSpc>
              <a:spcAft>
                <a:spcPts val="600"/>
              </a:spcAft>
            </a:pPr>
            <a:r>
              <a:rPr sz="1100" b="1" i="0">
                <a:solidFill>
                  <a:srgbClr val="1F6B47"/>
                </a:solidFill>
                <a:latin typeface="Calibri"/>
              </a:rPr>
              <a:t>JUDGED ON THREE THINGS</a:t>
            </a:r>
          </a:p>
        </p:txBody>
      </p:sp>
      <p:graphicFrame>
        <p:nvGraphicFramePr>
          <p:cNvPr id="8" name="Table 7"/>
          <p:cNvGraphicFramePr>
            <a:graphicFrameLocks noGrp="1"/>
          </p:cNvGraphicFramePr>
          <p:nvPr/>
        </p:nvGraphicFramePr>
        <p:xfrm>
          <a:off x="6492240" y="2148840"/>
          <a:ext cx="5029200" cy="1170432"/>
        </p:xfrm>
        <a:graphic>
          <a:graphicData uri="http://schemas.openxmlformats.org/drawingml/2006/table">
            <a:tbl>
              <a:tblPr firstRow="1" bandRow="1">
                <a:tableStyleId>{5C22544A-7EE6-4342-B048-85BDC9FD1C3A}</a:tableStyleId>
              </a:tblPr>
              <a:tblGrid>
                <a:gridCol w="2011680"/>
                <a:gridCol w="3017520"/>
              </a:tblGrid>
              <a:tr h="292608">
                <a:tc>
                  <a:txBody>
                    <a:bodyPr/>
                    <a:lstStyle/>
                    <a:p>
                      <a:pPr algn="l"/>
                      <a:r>
                        <a:rPr sz="1200" b="1">
                          <a:solidFill>
                            <a:srgbClr val="FFFFFF"/>
                          </a:solidFill>
                          <a:latin typeface="Calibri"/>
                        </a:rPr>
                        <a:t>Criterion</a:t>
                      </a:r>
                    </a:p>
                  </a:txBody>
                  <a:tcPr marL="73152" marR="73152" marT="0" marB="0" anchor="ctr">
                    <a:solidFill>
                      <a:srgbClr val="14512F"/>
                    </a:solidFill>
                  </a:tcPr>
                </a:tc>
                <a:tc>
                  <a:txBody>
                    <a:bodyPr/>
                    <a:lstStyle/>
                    <a:p>
                      <a:pPr algn="r"/>
                      <a:r>
                        <a:rPr sz="1200" b="1">
                          <a:solidFill>
                            <a:srgbClr val="FFFFFF"/>
                          </a:solidFill>
                          <a:latin typeface="Calibri"/>
                        </a:rPr>
                        <a:t>What it demanded</a:t>
                      </a:r>
                    </a:p>
                  </a:txBody>
                  <a:tcPr marL="73152" marR="73152" marT="0" marB="0" anchor="ctr">
                    <a:solidFill>
                      <a:srgbClr val="14512F"/>
                    </a:solidFill>
                  </a:tcPr>
                </a:tc>
              </a:tr>
              <a:tr h="292608">
                <a:tc>
                  <a:txBody>
                    <a:bodyPr/>
                    <a:lstStyle/>
                    <a:p>
                      <a:pPr algn="l"/>
                      <a:r>
                        <a:rPr sz="1200" b="0">
                          <a:solidFill>
                            <a:srgbClr val="111418"/>
                          </a:solidFill>
                          <a:latin typeface="Calibri"/>
                        </a:rPr>
                        <a:t>Does it run?</a:t>
                      </a:r>
                    </a:p>
                  </a:txBody>
                  <a:tcPr marL="73152" marR="73152" marT="0" marB="0" anchor="ctr">
                    <a:solidFill>
                      <a:srgbClr val="FFFFFF"/>
                    </a:solidFill>
                  </a:tcPr>
                </a:tc>
                <a:tc>
                  <a:txBody>
                    <a:bodyPr/>
                    <a:lstStyle/>
                    <a:p>
                      <a:pPr algn="r"/>
                      <a:r>
                        <a:rPr sz="1200" b="0">
                          <a:solidFill>
                            <a:srgbClr val="111418"/>
                          </a:solidFill>
                          <a:latin typeface="Calibri"/>
                        </a:rPr>
                        <a:t>A real application, not a concept</a:t>
                      </a:r>
                    </a:p>
                  </a:txBody>
                  <a:tcPr marL="73152" marR="73152" marT="0" marB="0" anchor="ctr">
                    <a:solidFill>
                      <a:srgbClr val="FFFFFF"/>
                    </a:solidFill>
                  </a:tcPr>
                </a:tc>
              </a:tr>
              <a:tr h="292608">
                <a:tc>
                  <a:txBody>
                    <a:bodyPr/>
                    <a:lstStyle/>
                    <a:p>
                      <a:pPr algn="l"/>
                      <a:r>
                        <a:rPr sz="1200" b="0">
                          <a:solidFill>
                            <a:srgbClr val="111418"/>
                          </a:solidFill>
                          <a:latin typeface="Calibri"/>
                        </a:rPr>
                        <a:t>Can a stranger use it?</a:t>
                      </a:r>
                    </a:p>
                  </a:txBody>
                  <a:tcPr marL="73152" marR="73152" marT="0" marB="0" anchor="ctr">
                    <a:solidFill>
                      <a:srgbClr val="FFFFFF"/>
                    </a:solidFill>
                  </a:tcPr>
                </a:tc>
                <a:tc>
                  <a:txBody>
                    <a:bodyPr/>
                    <a:lstStyle/>
                    <a:p>
                      <a:pPr algn="r"/>
                      <a:r>
                        <a:rPr sz="1200" b="0">
                          <a:solidFill>
                            <a:srgbClr val="111418"/>
                          </a:solidFill>
                          <a:latin typeface="Calibri"/>
                        </a:rPr>
                        <a:t>No developer standing beside it</a:t>
                      </a:r>
                    </a:p>
                  </a:txBody>
                  <a:tcPr marL="73152" marR="73152" marT="0" marB="0" anchor="ctr">
                    <a:solidFill>
                      <a:srgbClr val="FFFFFF"/>
                    </a:solidFill>
                  </a:tcPr>
                </a:tc>
              </a:tr>
              <a:tr h="292608">
                <a:tc>
                  <a:txBody>
                    <a:bodyPr/>
                    <a:lstStyle/>
                    <a:p>
                      <a:pPr algn="l"/>
                      <a:r>
                        <a:rPr sz="1200" b="0">
                          <a:solidFill>
                            <a:srgbClr val="111418"/>
                          </a:solidFill>
                          <a:latin typeface="Calibri"/>
                        </a:rPr>
                        <a:t>Honest about limits?</a:t>
                      </a:r>
                    </a:p>
                  </a:txBody>
                  <a:tcPr marL="73152" marR="73152" marT="0" marB="0" anchor="ctr">
                    <a:solidFill>
                      <a:srgbClr val="FFFFFF"/>
                    </a:solidFill>
                  </a:tcPr>
                </a:tc>
                <a:tc>
                  <a:txBody>
                    <a:bodyPr/>
                    <a:lstStyle/>
                    <a:p>
                      <a:pPr algn="r"/>
                      <a:r>
                        <a:rPr sz="1200" b="0">
                          <a:solidFill>
                            <a:srgbClr val="111418"/>
                          </a:solidFill>
                          <a:latin typeface="Calibri"/>
                        </a:rPr>
                        <a:t>No invented figures</a:t>
                      </a:r>
                    </a:p>
                  </a:txBody>
                  <a:tcPr marL="73152" marR="73152" marT="0" marB="0" anchor="ctr">
                    <a:solidFill>
                      <a:srgbClr val="FFFFFF"/>
                    </a:solidFill>
                  </a:tcPr>
                </a:tc>
              </a:tr>
            </a:tbl>
          </a:graphicData>
        </a:graphic>
      </p:graphicFrame>
      <p:sp>
        <p:nvSpPr>
          <p:cNvPr id="9" name="Rectangle 8"/>
          <p:cNvSpPr/>
          <p:nvPr/>
        </p:nvSpPr>
        <p:spPr>
          <a:xfrm>
            <a:off x="6492240" y="3794760"/>
            <a:ext cx="5029200" cy="1051560"/>
          </a:xfrm>
          <a:prstGeom prst="rect">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3794760"/>
            <a:ext cx="41148" cy="1051560"/>
          </a:xfrm>
          <a:prstGeom prst="rect">
            <a:avLst/>
          </a:prstGeom>
          <a:solidFill>
            <a:srgbClr val="1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9984" y="3941064"/>
            <a:ext cx="4572000" cy="777240"/>
          </a:xfrm>
          <a:prstGeom prst="rect">
            <a:avLst/>
          </a:prstGeom>
          <a:noFill/>
        </p:spPr>
        <p:txBody>
          <a:bodyPr wrap="square" anchor="t" lIns="0" rIns="0" tIns="0" bIns="0">
            <a:spAutoFit/>
          </a:bodyPr>
          <a:lstStyle/>
          <a:p>
            <a:pPr algn="l">
              <a:lnSpc>
                <a:spcPct val="112000"/>
              </a:lnSpc>
              <a:spcAft>
                <a:spcPts val="0"/>
              </a:spcAft>
            </a:pPr>
            <a:r>
              <a:rPr sz="1400" b="0" i="0">
                <a:solidFill>
                  <a:srgbClr val="111418"/>
                </a:solidFill>
                <a:latin typeface="Calibri"/>
              </a:rPr>
              <a:t>The organiser's stated preference: a rough tool that admits its limits beats a polished tool that invents figures. That sentence shaped every design decision that follows.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DESIGN PRINCIPLE</a:t>
            </a:r>
          </a:p>
          <a:p>
            <a:pPr algn="l">
              <a:lnSpc>
                <a:spcPct val="95000"/>
              </a:lnSpc>
              <a:spcAft>
                <a:spcPts val="0"/>
              </a:spcAft>
            </a:pPr>
            <a:r>
              <a:rPr sz="2700" b="1" i="0">
                <a:solidFill>
                  <a:srgbClr val="111418"/>
                </a:solidFill>
                <a:latin typeface="Calibri"/>
              </a:rPr>
              <a:t>One rule drove the whole build</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3</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sp>
        <p:nvSpPr>
          <p:cNvPr id="6" name="Rectangle 5"/>
          <p:cNvSpPr/>
          <p:nvPr/>
        </p:nvSpPr>
        <p:spPr>
          <a:xfrm>
            <a:off x="658368" y="1737360"/>
            <a:ext cx="10874959" cy="713232"/>
          </a:xfrm>
          <a:prstGeom prst="rect">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41148" cy="713232"/>
          </a:xfrm>
          <a:prstGeom prst="rect">
            <a:avLst/>
          </a:prstGeom>
          <a:solidFill>
            <a:srgbClr val="1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83664"/>
            <a:ext cx="10417759" cy="438912"/>
          </a:xfrm>
          <a:prstGeom prst="rect">
            <a:avLst/>
          </a:prstGeom>
          <a:noFill/>
        </p:spPr>
        <p:txBody>
          <a:bodyPr wrap="square" anchor="t" lIns="0" rIns="0" tIns="0" bIns="0">
            <a:spAutoFit/>
          </a:bodyPr>
          <a:lstStyle/>
          <a:p>
            <a:pPr algn="l">
              <a:lnSpc>
                <a:spcPct val="112000"/>
              </a:lnSpc>
              <a:spcAft>
                <a:spcPts val="0"/>
              </a:spcAft>
            </a:pPr>
            <a:r>
              <a:rPr sz="1900" b="0" i="0">
                <a:solidFill>
                  <a:srgbClr val="111418"/>
                </a:solidFill>
                <a:latin typeface="Calibri"/>
              </a:rPr>
              <a:t>If the system cannot justify a number, it does not present that number.</a:t>
            </a:r>
          </a:p>
        </p:txBody>
      </p:sp>
      <p:sp>
        <p:nvSpPr>
          <p:cNvPr id="9" name="TextBox 8"/>
          <p:cNvSpPr txBox="1"/>
          <p:nvPr/>
        </p:nvSpPr>
        <p:spPr>
          <a:xfrm>
            <a:off x="658368" y="2697480"/>
            <a:ext cx="10874959" cy="3337560"/>
          </a:xfrm>
          <a:prstGeom prst="rect">
            <a:avLst/>
          </a:prstGeom>
          <a:noFill/>
        </p:spPr>
        <p:txBody>
          <a:bodyPr wrap="square" anchor="t" lIns="0" rIns="0" tIns="0" bIns="0">
            <a:spAutoFit/>
          </a:bodyPr>
          <a:lstStyle/>
          <a:p>
            <a:pPr>
              <a:lnSpc>
                <a:spcPct val="114000"/>
              </a:lnSpc>
              <a:spcAft>
                <a:spcPts val="1100"/>
              </a:spcAft>
            </a:pPr>
            <a:r>
              <a:rPr b="1" sz="1400">
                <a:solidFill>
                  <a:srgbClr val="111418"/>
                </a:solidFill>
                <a:latin typeface="Calibri"/>
              </a:rPr>
              <a:t>No ground sample distance → </a:t>
            </a:r>
            <a:r>
              <a:rPr sz="1400">
                <a:solidFill>
                  <a:srgbClr val="3B4250"/>
                </a:solidFill>
                <a:latin typeface="Calibri"/>
              </a:rPr>
              <a:t>no physical area. Pixel counts only, stated as such.</a:t>
            </a:r>
          </a:p>
          <a:p>
            <a:pPr>
              <a:lnSpc>
                <a:spcPct val="114000"/>
              </a:lnSpc>
              <a:spcAft>
                <a:spcPts val="1100"/>
              </a:spcAft>
            </a:pPr>
            <a:r>
              <a:rPr b="1" sz="1400">
                <a:solidFill>
                  <a:srgbClr val="111418"/>
                </a:solidFill>
                <a:latin typeface="Calibri"/>
              </a:rPr>
              <a:t>No segmentation masks → </a:t>
            </a:r>
            <a:r>
              <a:rPr sz="1400">
                <a:solidFill>
                  <a:srgbClr val="3B4250"/>
                </a:solidFill>
                <a:latin typeface="Calibri"/>
              </a:rPr>
              <a:t>area comes from boxes, labelled a proxy everywhere, with the measured 12–22% overestimate shown.</a:t>
            </a:r>
          </a:p>
          <a:p>
            <a:pPr>
              <a:lnSpc>
                <a:spcPct val="114000"/>
              </a:lnSpc>
              <a:spcAft>
                <a:spcPts val="1100"/>
              </a:spcAft>
            </a:pPr>
            <a:r>
              <a:rPr b="1" sz="1400">
                <a:solidFill>
                  <a:srgbClr val="111418"/>
                </a:solidFill>
                <a:latin typeface="Calibri"/>
              </a:rPr>
              <a:t>No detector installed → </a:t>
            </a:r>
            <a:r>
              <a:rPr sz="1400">
                <a:solidFill>
                  <a:srgbClr val="3B4250"/>
                </a:solidFill>
                <a:latin typeface="Calibri"/>
              </a:rPr>
              <a:t>the app refuses to count rather than inventing a number. There is deliberately no synthetic fallback.</a:t>
            </a:r>
          </a:p>
          <a:p>
            <a:pPr>
              <a:lnSpc>
                <a:spcPct val="114000"/>
              </a:lnSpc>
              <a:spcAft>
                <a:spcPts val="1100"/>
              </a:spcAft>
            </a:pPr>
            <a:r>
              <a:rPr b="1" sz="1400">
                <a:solidFill>
                  <a:srgbClr val="111418"/>
                </a:solidFill>
                <a:latin typeface="Calibri"/>
              </a:rPr>
              <a:t>Confidence ≠ accuracy. </a:t>
            </a:r>
            <a:r>
              <a:rPr sz="1400">
                <a:solidFill>
                  <a:srgbClr val="3B4250"/>
                </a:solidFill>
                <a:latin typeface="Calibri"/>
              </a:rPr>
              <a:t>No accuracy figure is published anywhere in the project, because no labelled evaluation set exists.</a:t>
            </a:r>
          </a:p>
          <a:p>
            <a:pPr>
              <a:lnSpc>
                <a:spcPct val="114000"/>
              </a:lnSpc>
              <a:spcAft>
                <a:spcPts val="1100"/>
              </a:spcAft>
            </a:pPr>
            <a:r>
              <a:rPr b="1" sz="1400">
                <a:solidFill>
                  <a:srgbClr val="111418"/>
                </a:solidFill>
                <a:latin typeface="Calibri"/>
              </a:rPr>
              <a:t>Cover is an interval. </a:t>
            </a:r>
            <a:r>
              <a:rPr sz="1400">
                <a:solidFill>
                  <a:srgbClr val="3B4250"/>
                </a:solidFill>
                <a:latin typeface="Calibri"/>
              </a:rPr>
              <a:t>When the two independent estimates disagree by more than 25 points, no single figure is reported at all.</a:t>
            </a:r>
          </a:p>
          <a:p>
            <a:pPr>
              <a:lnSpc>
                <a:spcPct val="114000"/>
              </a:lnSpc>
              <a:spcAft>
                <a:spcPts val="1100"/>
              </a:spcAft>
            </a:pPr>
            <a:r>
              <a:rPr b="1" sz="1400">
                <a:solidFill>
                  <a:srgbClr val="111418"/>
                </a:solidFill>
                <a:latin typeface="Calibri"/>
              </a:rPr>
              <a:t>No carbon estimate. </a:t>
            </a:r>
            <a:r>
              <a:rPr sz="1400">
                <a:solidFill>
                  <a:srgbClr val="3B4250"/>
                </a:solidFill>
                <a:latin typeface="Calibri"/>
              </a:rPr>
              <a:t>Canopy area is geometry. Converting it needs allometry, species and field calibration I don't have.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DATA</a:t>
            </a:r>
          </a:p>
          <a:p>
            <a:pPr algn="l">
              <a:lnSpc>
                <a:spcPct val="95000"/>
              </a:lnSpc>
              <a:spcAft>
                <a:spcPts val="0"/>
              </a:spcAft>
            </a:pPr>
            <a:r>
              <a:rPr sz="2700" b="1" i="0">
                <a:solidFill>
                  <a:srgbClr val="111418"/>
                </a:solidFill>
                <a:latin typeface="Calibri"/>
              </a:rPr>
              <a:t>Three scenes, self-sourced, licences verified</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4</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graphicFrame>
        <p:nvGraphicFramePr>
          <p:cNvPr id="6" name="Table 5"/>
          <p:cNvGraphicFramePr>
            <a:graphicFrameLocks noGrp="1"/>
          </p:cNvGraphicFramePr>
          <p:nvPr/>
        </p:nvGraphicFramePr>
        <p:xfrm>
          <a:off x="658368" y="1783080"/>
          <a:ext cx="10874956" cy="1170432"/>
        </p:xfrm>
        <a:graphic>
          <a:graphicData uri="http://schemas.openxmlformats.org/drawingml/2006/table">
            <a:tbl>
              <a:tblPr firstRow="1" bandRow="1">
                <a:tableStyleId>{5C22544A-7EE6-4342-B048-85BDC9FD1C3A}</a:tableStyleId>
              </a:tblPr>
              <a:tblGrid>
                <a:gridCol w="1739993"/>
                <a:gridCol w="2957988"/>
                <a:gridCol w="1478994"/>
                <a:gridCol w="1217995"/>
                <a:gridCol w="1217995"/>
                <a:gridCol w="2261991"/>
              </a:tblGrid>
              <a:tr h="292608">
                <a:tc>
                  <a:txBody>
                    <a:bodyPr/>
                    <a:lstStyle/>
                    <a:p>
                      <a:pPr algn="l"/>
                      <a:r>
                        <a:rPr sz="1300" b="1">
                          <a:solidFill>
                            <a:srgbClr val="FFFFFF"/>
                          </a:solidFill>
                          <a:latin typeface="Calibri"/>
                        </a:rPr>
                        <a:t>Scene</a:t>
                      </a:r>
                    </a:p>
                  </a:txBody>
                  <a:tcPr marL="73152" marR="73152" marT="0" marB="0" anchor="ctr">
                    <a:solidFill>
                      <a:srgbClr val="14512F"/>
                    </a:solidFill>
                  </a:tcPr>
                </a:tc>
                <a:tc>
                  <a:txBody>
                    <a:bodyPr/>
                    <a:lstStyle/>
                    <a:p>
                      <a:pPr algn="r"/>
                      <a:r>
                        <a:rPr sz="1300" b="1">
                          <a:solidFill>
                            <a:srgbClr val="FFFFFF"/>
                          </a:solidFill>
                          <a:latin typeface="Calibri"/>
                        </a:rPr>
                        <a:t>Source</a:t>
                      </a:r>
                    </a:p>
                  </a:txBody>
                  <a:tcPr marL="73152" marR="73152" marT="0" marB="0" anchor="ctr">
                    <a:solidFill>
                      <a:srgbClr val="14512F"/>
                    </a:solidFill>
                  </a:tcPr>
                </a:tc>
                <a:tc>
                  <a:txBody>
                    <a:bodyPr/>
                    <a:lstStyle/>
                    <a:p>
                      <a:pPr algn="r"/>
                      <a:r>
                        <a:rPr sz="1300" b="1">
                          <a:solidFill>
                            <a:srgbClr val="FFFFFF"/>
                          </a:solidFill>
                          <a:latin typeface="Calibri"/>
                        </a:rPr>
                        <a:t>Native GSD</a:t>
                      </a:r>
                    </a:p>
                  </a:txBody>
                  <a:tcPr marL="73152" marR="73152" marT="0" marB="0" anchor="ctr">
                    <a:solidFill>
                      <a:srgbClr val="14512F"/>
                    </a:solidFill>
                  </a:tcPr>
                </a:tc>
                <a:tc>
                  <a:txBody>
                    <a:bodyPr/>
                    <a:lstStyle/>
                    <a:p>
                      <a:pPr algn="r"/>
                      <a:r>
                        <a:rPr sz="1300" b="1">
                          <a:solidFill>
                            <a:srgbClr val="FFFFFF"/>
                          </a:solidFill>
                          <a:latin typeface="Calibri"/>
                        </a:rPr>
                        <a:t>Grid</a:t>
                      </a:r>
                    </a:p>
                  </a:txBody>
                  <a:tcPr marL="73152" marR="73152" marT="0" marB="0" anchor="ctr">
                    <a:solidFill>
                      <a:srgbClr val="14512F"/>
                    </a:solidFill>
                  </a:tcPr>
                </a:tc>
                <a:tc>
                  <a:txBody>
                    <a:bodyPr/>
                    <a:lstStyle/>
                    <a:p>
                      <a:pPr algn="r"/>
                      <a:r>
                        <a:rPr sz="1300" b="1">
                          <a:solidFill>
                            <a:srgbClr val="FFFFFF"/>
                          </a:solidFill>
                          <a:latin typeface="Calibri"/>
                        </a:rPr>
                        <a:t>Extent</a:t>
                      </a:r>
                    </a:p>
                  </a:txBody>
                  <a:tcPr marL="73152" marR="73152" marT="0" marB="0" anchor="ctr">
                    <a:solidFill>
                      <a:srgbClr val="14512F"/>
                    </a:solidFill>
                  </a:tcPr>
                </a:tc>
                <a:tc>
                  <a:txBody>
                    <a:bodyPr/>
                    <a:lstStyle/>
                    <a:p>
                      <a:pPr algn="r"/>
                      <a:r>
                        <a:rPr sz="1300" b="1">
                          <a:solidFill>
                            <a:srgbClr val="FFFFFF"/>
                          </a:solidFill>
                          <a:latin typeface="Calibri"/>
                        </a:rPr>
                        <a:t>Canopy</a:t>
                      </a:r>
                    </a:p>
                  </a:txBody>
                  <a:tcPr marL="73152" marR="73152" marT="0" marB="0" anchor="ctr">
                    <a:solidFill>
                      <a:srgbClr val="14512F"/>
                    </a:solidFill>
                  </a:tcPr>
                </a:tc>
              </a:tr>
              <a:tr h="292608">
                <a:tc>
                  <a:txBody>
                    <a:bodyPr/>
                    <a:lstStyle/>
                    <a:p>
                      <a:pPr algn="l"/>
                      <a:r>
                        <a:rPr sz="1300" b="0">
                          <a:solidFill>
                            <a:srgbClr val="111418"/>
                          </a:solidFill>
                          <a:latin typeface="Calibri"/>
                        </a:rPr>
                        <a:t>S1a open</a:t>
                      </a:r>
                    </a:p>
                  </a:txBody>
                  <a:tcPr marL="73152" marR="73152" marT="0" marB="0" anchor="ctr">
                    <a:solidFill>
                      <a:srgbClr val="FFFFFF"/>
                    </a:solidFill>
                  </a:tcPr>
                </a:tc>
                <a:tc>
                  <a:txBody>
                    <a:bodyPr/>
                    <a:lstStyle/>
                    <a:p>
                      <a:pPr algn="r"/>
                      <a:r>
                        <a:rPr sz="1300" b="0">
                          <a:solidFill>
                            <a:srgbClr val="111418"/>
                          </a:solidFill>
                          <a:latin typeface="Calibri"/>
                        </a:rPr>
                        <a:t>Maxar/Vantor WV-02</a:t>
                      </a:r>
                    </a:p>
                  </a:txBody>
                  <a:tcPr marL="73152" marR="73152" marT="0" marB="0" anchor="ctr">
                    <a:solidFill>
                      <a:srgbClr val="FFFFFF"/>
                    </a:solidFill>
                  </a:tcPr>
                </a:tc>
                <a:tc>
                  <a:txBody>
                    <a:bodyPr/>
                    <a:lstStyle/>
                    <a:p>
                      <a:pPr algn="r"/>
                      <a:r>
                        <a:rPr sz="1300" b="0">
                          <a:solidFill>
                            <a:srgbClr val="111418"/>
                          </a:solidFill>
                          <a:latin typeface="Calibri"/>
                        </a:rPr>
                        <a:t>0.49 m</a:t>
                      </a:r>
                    </a:p>
                  </a:txBody>
                  <a:tcPr marL="73152" marR="73152" marT="0" marB="0" anchor="ctr">
                    <a:solidFill>
                      <a:srgbClr val="FFFFFF"/>
                    </a:solidFill>
                  </a:tcPr>
                </a:tc>
                <a:tc>
                  <a:txBody>
                    <a:bodyPr/>
                    <a:lstStyle/>
                    <a:p>
                      <a:pPr algn="r"/>
                      <a:r>
                        <a:rPr sz="1300" b="0">
                          <a:solidFill>
                            <a:srgbClr val="111418"/>
                          </a:solidFill>
                          <a:latin typeface="Calibri"/>
                        </a:rPr>
                        <a:t>0.305 m</a:t>
                      </a:r>
                    </a:p>
                  </a:txBody>
                  <a:tcPr marL="73152" marR="73152" marT="0" marB="0" anchor="ctr">
                    <a:solidFill>
                      <a:srgbClr val="FFFFFF"/>
                    </a:solidFill>
                  </a:tcPr>
                </a:tc>
                <a:tc>
                  <a:txBody>
                    <a:bodyPr/>
                    <a:lstStyle/>
                    <a:p>
                      <a:pPr algn="r"/>
                      <a:r>
                        <a:rPr sz="1300" b="0">
                          <a:solidFill>
                            <a:srgbClr val="111418"/>
                          </a:solidFill>
                          <a:latin typeface="Calibri"/>
                        </a:rPr>
                        <a:t>9.77 ha</a:t>
                      </a:r>
                    </a:p>
                  </a:txBody>
                  <a:tcPr marL="73152" marR="73152" marT="0" marB="0" anchor="ctr">
                    <a:solidFill>
                      <a:srgbClr val="FFFFFF"/>
                    </a:solidFill>
                  </a:tcPr>
                </a:tc>
                <a:tc>
                  <a:txBody>
                    <a:bodyPr/>
                    <a:lstStyle/>
                    <a:p>
                      <a:pPr algn="r"/>
                      <a:r>
                        <a:rPr sz="1300" b="0">
                          <a:solidFill>
                            <a:srgbClr val="111418"/>
                          </a:solidFill>
                          <a:latin typeface="Calibri"/>
                        </a:rPr>
                        <a:t>open pine/fir</a:t>
                      </a:r>
                    </a:p>
                  </a:txBody>
                  <a:tcPr marL="73152" marR="73152" marT="0" marB="0" anchor="ctr">
                    <a:solidFill>
                      <a:srgbClr val="FFFFFF"/>
                    </a:solidFill>
                  </a:tcPr>
                </a:tc>
              </a:tr>
              <a:tr h="292608">
                <a:tc>
                  <a:txBody>
                    <a:bodyPr/>
                    <a:lstStyle/>
                    <a:p>
                      <a:pPr algn="l"/>
                      <a:r>
                        <a:rPr sz="1300" b="0">
                          <a:solidFill>
                            <a:srgbClr val="111418"/>
                          </a:solidFill>
                          <a:latin typeface="Calibri"/>
                        </a:rPr>
                        <a:t>S1b dense</a:t>
                      </a:r>
                    </a:p>
                  </a:txBody>
                  <a:tcPr marL="73152" marR="73152" marT="0" marB="0" anchor="ctr">
                    <a:solidFill>
                      <a:srgbClr val="FFFFFF"/>
                    </a:solidFill>
                  </a:tcPr>
                </a:tc>
                <a:tc>
                  <a:txBody>
                    <a:bodyPr/>
                    <a:lstStyle/>
                    <a:p>
                      <a:pPr algn="r"/>
                      <a:r>
                        <a:rPr sz="1300" b="0">
                          <a:solidFill>
                            <a:srgbClr val="111418"/>
                          </a:solidFill>
                          <a:latin typeface="Calibri"/>
                        </a:rPr>
                        <a:t>Maxar/Vantor WV-02</a:t>
                      </a:r>
                    </a:p>
                  </a:txBody>
                  <a:tcPr marL="73152" marR="73152" marT="0" marB="0" anchor="ctr">
                    <a:solidFill>
                      <a:srgbClr val="FFFFFF"/>
                    </a:solidFill>
                  </a:tcPr>
                </a:tc>
                <a:tc>
                  <a:txBody>
                    <a:bodyPr/>
                    <a:lstStyle/>
                    <a:p>
                      <a:pPr algn="r"/>
                      <a:r>
                        <a:rPr sz="1300" b="0">
                          <a:solidFill>
                            <a:srgbClr val="111418"/>
                          </a:solidFill>
                          <a:latin typeface="Calibri"/>
                        </a:rPr>
                        <a:t>0.49 m</a:t>
                      </a:r>
                    </a:p>
                  </a:txBody>
                  <a:tcPr marL="73152" marR="73152" marT="0" marB="0" anchor="ctr">
                    <a:solidFill>
                      <a:srgbClr val="FFFFFF"/>
                    </a:solidFill>
                  </a:tcPr>
                </a:tc>
                <a:tc>
                  <a:txBody>
                    <a:bodyPr/>
                    <a:lstStyle/>
                    <a:p>
                      <a:pPr algn="r"/>
                      <a:r>
                        <a:rPr sz="1300" b="0">
                          <a:solidFill>
                            <a:srgbClr val="111418"/>
                          </a:solidFill>
                          <a:latin typeface="Calibri"/>
                        </a:rPr>
                        <a:t>0.305 m</a:t>
                      </a:r>
                    </a:p>
                  </a:txBody>
                  <a:tcPr marL="73152" marR="73152" marT="0" marB="0" anchor="ctr">
                    <a:solidFill>
                      <a:srgbClr val="FFFFFF"/>
                    </a:solidFill>
                  </a:tcPr>
                </a:tc>
                <a:tc>
                  <a:txBody>
                    <a:bodyPr/>
                    <a:lstStyle/>
                    <a:p>
                      <a:pPr algn="r"/>
                      <a:r>
                        <a:rPr sz="1300" b="0">
                          <a:solidFill>
                            <a:srgbClr val="111418"/>
                          </a:solidFill>
                          <a:latin typeface="Calibri"/>
                        </a:rPr>
                        <a:t>9.77 ha</a:t>
                      </a:r>
                    </a:p>
                  </a:txBody>
                  <a:tcPr marL="73152" marR="73152" marT="0" marB="0" anchor="ctr">
                    <a:solidFill>
                      <a:srgbClr val="FFFFFF"/>
                    </a:solidFill>
                  </a:tcPr>
                </a:tc>
                <a:tc>
                  <a:txBody>
                    <a:bodyPr/>
                    <a:lstStyle/>
                    <a:p>
                      <a:pPr algn="r"/>
                      <a:r>
                        <a:rPr sz="1300" b="0">
                          <a:solidFill>
                            <a:srgbClr val="111418"/>
                          </a:solidFill>
                          <a:latin typeface="Calibri"/>
                        </a:rPr>
                        <a:t>near-closed conifer</a:t>
                      </a:r>
                    </a:p>
                  </a:txBody>
                  <a:tcPr marL="73152" marR="73152" marT="0" marB="0" anchor="ctr">
                    <a:solidFill>
                      <a:srgbClr val="FFFFFF"/>
                    </a:solidFill>
                  </a:tcPr>
                </a:tc>
              </a:tr>
              <a:tr h="292608">
                <a:tc>
                  <a:txBody>
                    <a:bodyPr/>
                    <a:lstStyle/>
                    <a:p>
                      <a:pPr algn="l"/>
                      <a:r>
                        <a:rPr sz="1300" b="0">
                          <a:solidFill>
                            <a:srgbClr val="111418"/>
                          </a:solidFill>
                          <a:latin typeface="Calibri"/>
                        </a:rPr>
                        <a:t>S2 closed</a:t>
                      </a:r>
                    </a:p>
                  </a:txBody>
                  <a:tcPr marL="73152" marR="73152" marT="0" marB="0" anchor="ctr">
                    <a:solidFill>
                      <a:srgbClr val="FFFFFF"/>
                    </a:solidFill>
                  </a:tcPr>
                </a:tc>
                <a:tc>
                  <a:txBody>
                    <a:bodyPr/>
                    <a:lstStyle/>
                    <a:p>
                      <a:pPr algn="r"/>
                      <a:r>
                        <a:rPr sz="1300" b="0">
                          <a:solidFill>
                            <a:srgbClr val="111418"/>
                          </a:solidFill>
                          <a:latin typeface="Calibri"/>
                        </a:rPr>
                        <a:t>swisstopo SWISSIMAGE</a:t>
                      </a:r>
                    </a:p>
                  </a:txBody>
                  <a:tcPr marL="73152" marR="73152" marT="0" marB="0" anchor="ctr">
                    <a:solidFill>
                      <a:srgbClr val="FFFFFF"/>
                    </a:solidFill>
                  </a:tcPr>
                </a:tc>
                <a:tc>
                  <a:txBody>
                    <a:bodyPr/>
                    <a:lstStyle/>
                    <a:p>
                      <a:pPr algn="r"/>
                      <a:r>
                        <a:rPr sz="1300" b="0">
                          <a:solidFill>
                            <a:srgbClr val="111418"/>
                          </a:solidFill>
                          <a:latin typeface="Calibri"/>
                        </a:rPr>
                        <a:t>0.10 m</a:t>
                      </a:r>
                    </a:p>
                  </a:txBody>
                  <a:tcPr marL="73152" marR="73152" marT="0" marB="0" anchor="ctr">
                    <a:solidFill>
                      <a:srgbClr val="FFFFFF"/>
                    </a:solidFill>
                  </a:tcPr>
                </a:tc>
                <a:tc>
                  <a:txBody>
                    <a:bodyPr/>
                    <a:lstStyle/>
                    <a:p>
                      <a:pPr algn="r"/>
                      <a:r>
                        <a:rPr sz="1300" b="0">
                          <a:solidFill>
                            <a:srgbClr val="111418"/>
                          </a:solidFill>
                          <a:latin typeface="Calibri"/>
                        </a:rPr>
                        <a:t>0.10 m</a:t>
                      </a:r>
                    </a:p>
                  </a:txBody>
                  <a:tcPr marL="73152" marR="73152" marT="0" marB="0" anchor="ctr">
                    <a:solidFill>
                      <a:srgbClr val="FFFFFF"/>
                    </a:solidFill>
                  </a:tcPr>
                </a:tc>
                <a:tc>
                  <a:txBody>
                    <a:bodyPr/>
                    <a:lstStyle/>
                    <a:p>
                      <a:pPr algn="r"/>
                      <a:r>
                        <a:rPr sz="1300" b="0">
                          <a:solidFill>
                            <a:srgbClr val="111418"/>
                          </a:solidFill>
                          <a:latin typeface="Calibri"/>
                        </a:rPr>
                        <a:t>4.19 ha</a:t>
                      </a:r>
                    </a:p>
                  </a:txBody>
                  <a:tcPr marL="73152" marR="73152" marT="0" marB="0" anchor="ctr">
                    <a:solidFill>
                      <a:srgbClr val="FFFFFF"/>
                    </a:solidFill>
                  </a:tcPr>
                </a:tc>
                <a:tc>
                  <a:txBody>
                    <a:bodyPr/>
                    <a:lstStyle/>
                    <a:p>
                      <a:pPr algn="r"/>
                      <a:r>
                        <a:rPr sz="1300" b="0">
                          <a:solidFill>
                            <a:srgbClr val="111418"/>
                          </a:solidFill>
                          <a:latin typeface="Calibri"/>
                        </a:rPr>
                        <a:t>closed mixed</a:t>
                      </a:r>
                    </a:p>
                  </a:txBody>
                  <a:tcPr marL="73152" marR="73152" marT="0" marB="0" anchor="ctr">
                    <a:solidFill>
                      <a:srgbClr val="FFFFFF"/>
                    </a:solidFill>
                  </a:tcPr>
                </a:tc>
              </a:tr>
            </a:tbl>
          </a:graphicData>
        </a:graphic>
      </p:graphicFrame>
      <p:sp>
        <p:nvSpPr>
          <p:cNvPr id="7" name="TextBox 6"/>
          <p:cNvSpPr txBox="1"/>
          <p:nvPr/>
        </p:nvSpPr>
        <p:spPr>
          <a:xfrm>
            <a:off x="658368" y="3200400"/>
            <a:ext cx="10874959" cy="2834640"/>
          </a:xfrm>
          <a:prstGeom prst="rect">
            <a:avLst/>
          </a:prstGeom>
          <a:noFill/>
        </p:spPr>
        <p:txBody>
          <a:bodyPr wrap="square" anchor="t" lIns="0" rIns="0" tIns="0" bIns="0">
            <a:spAutoFit/>
          </a:bodyPr>
          <a:lstStyle/>
          <a:p>
            <a:pPr>
              <a:lnSpc>
                <a:spcPct val="114000"/>
              </a:lnSpc>
              <a:spcAft>
                <a:spcPts val="1100"/>
              </a:spcAft>
            </a:pPr>
            <a:r>
              <a:rPr b="1" sz="1400">
                <a:solidFill>
                  <a:srgbClr val="111418"/>
                </a:solidFill>
                <a:latin typeface="Calibri"/>
              </a:rPr>
              <a:t>Reproducible, not downloaded. </a:t>
            </a:r>
            <a:r>
              <a:rPr sz="1400">
                <a:solidFill>
                  <a:srgbClr val="3B4250"/>
                </a:solidFill>
                <a:latin typeface="Calibri"/>
              </a:rPr>
              <a:t>Fetch scripts read only the requested window from the provider's cloud-optimised GeoTIFF, so each crop is 1–10 MB and rebuilds exactly from a scene ID and pixel window.</a:t>
            </a:r>
          </a:p>
          <a:p>
            <a:pPr>
              <a:lnSpc>
                <a:spcPct val="114000"/>
              </a:lnSpc>
              <a:spcAft>
                <a:spcPts val="1100"/>
              </a:spcAft>
            </a:pPr>
            <a:r>
              <a:rPr b="1" sz="1400">
                <a:solidFill>
                  <a:srgbClr val="111418"/>
                </a:solidFill>
                <a:latin typeface="Calibri"/>
              </a:rPr>
              <a:t>Provenance is machine-readable. </a:t>
            </a:r>
            <a:r>
              <a:rPr sz="1400">
                <a:solidFill>
                  <a:srgbClr val="3B4250"/>
                </a:solidFill>
                <a:latin typeface="Calibri"/>
              </a:rPr>
              <a:t>Provider, platform, date, native GSD, grid spacing, CRS, off-nadir, sun elevation, cloud, processing steps and licence — written automatically at fetch time.</a:t>
            </a:r>
          </a:p>
          <a:p>
            <a:pPr>
              <a:lnSpc>
                <a:spcPct val="114000"/>
              </a:lnSpc>
              <a:spcAft>
                <a:spcPts val="1100"/>
              </a:spcAft>
            </a:pPr>
            <a:r>
              <a:rPr b="1" sz="1400">
                <a:solidFill>
                  <a:srgbClr val="111418"/>
                </a:solidFill>
                <a:latin typeface="Calibri"/>
              </a:rPr>
              <a:t>Native GSD ≠ grid spacing. </a:t>
            </a:r>
            <a:r>
              <a:rPr sz="1400">
                <a:solidFill>
                  <a:srgbClr val="3B4250"/>
                </a:solidFill>
                <a:latin typeface="Calibri"/>
              </a:rPr>
              <a:t>Maxar delivers a 0.305 m grid from a 0.49 m sensor. Areas from the grid are correct; detectable detail is capped by the sensor. Tracked separately.</a:t>
            </a:r>
          </a:p>
        </p:txBody>
      </p:sp>
      <p:sp>
        <p:nvSpPr>
          <p:cNvPr id="8" name="Rectangle 7"/>
          <p:cNvSpPr/>
          <p:nvPr/>
        </p:nvSpPr>
        <p:spPr>
          <a:xfrm>
            <a:off x="658368" y="5486400"/>
            <a:ext cx="10874959" cy="749808"/>
          </a:xfrm>
          <a:prstGeom prst="rect">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5486400"/>
            <a:ext cx="41148" cy="749808"/>
          </a:xfrm>
          <a:prstGeom prst="rect">
            <a:avLst/>
          </a:prstGeom>
          <a:solidFill>
            <a:srgbClr val="9A62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5632704"/>
            <a:ext cx="10417759" cy="475488"/>
          </a:xfrm>
          <a:prstGeom prst="rect">
            <a:avLst/>
          </a:prstGeom>
          <a:noFill/>
        </p:spPr>
        <p:txBody>
          <a:bodyPr wrap="square" anchor="t" lIns="0" rIns="0" tIns="0" bIns="0">
            <a:spAutoFit/>
          </a:bodyPr>
          <a:lstStyle/>
          <a:p>
            <a:pPr algn="l">
              <a:lnSpc>
                <a:spcPct val="112000"/>
              </a:lnSpc>
              <a:spcAft>
                <a:spcPts val="0"/>
              </a:spcAft>
            </a:pPr>
            <a:r>
              <a:rPr sz="1400" b="0" i="0">
                <a:solidFill>
                  <a:srgbClr val="111418"/>
                </a:solidFill>
                <a:latin typeface="Calibri"/>
              </a:rPr>
              <a:t>Licensing is an engineering constraint, not paperwork: Maxar Open Data is CC BY-NC — non-commercial. Productising this needs different imagery. SWISSIMAGE permits commercial use with attribution.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SYSTEM</a:t>
            </a:r>
          </a:p>
          <a:p>
            <a:pPr algn="l">
              <a:lnSpc>
                <a:spcPct val="95000"/>
              </a:lnSpc>
              <a:spcAft>
                <a:spcPts val="0"/>
              </a:spcAft>
            </a:pPr>
            <a:r>
              <a:rPr sz="2700" b="1" i="0">
                <a:solidFill>
                  <a:srgbClr val="111418"/>
                </a:solidFill>
                <a:latin typeface="Calibri"/>
              </a:rPr>
              <a:t>Pipeline, and the arithmetic behind every area</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5</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sp>
        <p:nvSpPr>
          <p:cNvPr id="6" name="Rounded Rectangle 5"/>
          <p:cNvSpPr/>
          <p:nvPr/>
        </p:nvSpPr>
        <p:spPr>
          <a:xfrm>
            <a:off x="658368" y="1920240"/>
            <a:ext cx="1691640" cy="868680"/>
          </a:xfrm>
          <a:prstGeom prst="roundRect">
            <a:avLst>
              <a:gd name="adj" fmla="val 6000"/>
            </a:avLst>
          </a:prstGeom>
          <a:solidFill>
            <a:srgbClr val="FFFFFF"/>
          </a:solidFill>
          <a:ln w="9525">
            <a:solidFill>
              <a:srgbClr val="D8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00000"/>
              </a:lnSpc>
              <a:spcAft>
                <a:spcPts val="100"/>
              </a:spcAft>
            </a:pPr>
            <a:r>
              <a:rPr sz="1300" b="1" i="0">
                <a:solidFill>
                  <a:srgbClr val="111418"/>
                </a:solidFill>
                <a:latin typeface="Calibri"/>
              </a:rPr>
              <a:t>Imagery</a:t>
            </a:r>
          </a:p>
          <a:p>
            <a:pPr algn="ctr">
              <a:lnSpc>
                <a:spcPct val="100000"/>
              </a:lnSpc>
              <a:spcAft>
                <a:spcPts val="0"/>
              </a:spcAft>
            </a:pPr>
            <a:r>
              <a:rPr sz="1000" b="0" i="0">
                <a:solidFill>
                  <a:srgbClr val="6B7482"/>
                </a:solidFill>
                <a:latin typeface="Calibri"/>
              </a:rPr>
              <a:t>GSD, CRS</a:t>
            </a:r>
          </a:p>
        </p:txBody>
      </p:sp>
      <p:cxnSp>
        <p:nvCxnSpPr>
          <p:cNvPr id="7" name="Connector 6"/>
          <p:cNvCxnSpPr/>
          <p:nvPr/>
        </p:nvCxnSpPr>
        <p:spPr>
          <a:xfrm>
            <a:off x="2350008" y="2354580"/>
            <a:ext cx="173736" cy="0"/>
          </a:xfrm>
          <a:prstGeom prst="line">
            <a:avLst/>
          </a:prstGeom>
          <a:ln w="15875">
            <a:solidFill>
              <a:srgbClr val="11141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523744" y="1920240"/>
            <a:ext cx="1691640" cy="868680"/>
          </a:xfrm>
          <a:prstGeom prst="roundRect">
            <a:avLst>
              <a:gd name="adj" fmla="val 6000"/>
            </a:avLst>
          </a:prstGeom>
          <a:solidFill>
            <a:srgbClr val="EEF4F0"/>
          </a:solidFill>
          <a:ln w="9525">
            <a:solidFill>
              <a:srgbClr val="1F6B4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00000"/>
              </a:lnSpc>
              <a:spcAft>
                <a:spcPts val="100"/>
              </a:spcAft>
            </a:pPr>
            <a:r>
              <a:rPr sz="1300" b="1" i="0">
                <a:solidFill>
                  <a:srgbClr val="111418"/>
                </a:solidFill>
                <a:latin typeface="Calibri"/>
              </a:rPr>
              <a:t>Scale match</a:t>
            </a:r>
          </a:p>
          <a:p>
            <a:pPr algn="ctr">
              <a:lnSpc>
                <a:spcPct val="100000"/>
              </a:lnSpc>
              <a:spcAft>
                <a:spcPts val="0"/>
              </a:spcAft>
            </a:pPr>
            <a:r>
              <a:rPr sz="1000" b="0" i="0">
                <a:solidFill>
                  <a:srgbClr val="6B7482"/>
                </a:solidFill>
                <a:latin typeface="Calibri"/>
              </a:rPr>
              <a:t>to 0.10 m/px</a:t>
            </a:r>
          </a:p>
        </p:txBody>
      </p:sp>
      <p:cxnSp>
        <p:nvCxnSpPr>
          <p:cNvPr id="9" name="Connector 8"/>
          <p:cNvCxnSpPr/>
          <p:nvPr/>
        </p:nvCxnSpPr>
        <p:spPr>
          <a:xfrm>
            <a:off x="4215384" y="2354580"/>
            <a:ext cx="173736" cy="0"/>
          </a:xfrm>
          <a:prstGeom prst="line">
            <a:avLst/>
          </a:prstGeom>
          <a:ln w="15875">
            <a:solidFill>
              <a:srgbClr val="11141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89120" y="1920240"/>
            <a:ext cx="1691640" cy="868680"/>
          </a:xfrm>
          <a:prstGeom prst="roundRect">
            <a:avLst>
              <a:gd name="adj" fmla="val 6000"/>
            </a:avLst>
          </a:prstGeom>
          <a:solidFill>
            <a:srgbClr val="FFFFFF"/>
          </a:solidFill>
          <a:ln w="9525">
            <a:solidFill>
              <a:srgbClr val="D8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00000"/>
              </a:lnSpc>
              <a:spcAft>
                <a:spcPts val="100"/>
              </a:spcAft>
            </a:pPr>
            <a:r>
              <a:rPr sz="1300" b="1" i="0">
                <a:solidFill>
                  <a:srgbClr val="111418"/>
                </a:solidFill>
                <a:latin typeface="Calibri"/>
              </a:rPr>
              <a:t>Tiled detect</a:t>
            </a:r>
          </a:p>
          <a:p>
            <a:pPr algn="ctr">
              <a:lnSpc>
                <a:spcPct val="100000"/>
              </a:lnSpc>
              <a:spcAft>
                <a:spcPts val="0"/>
              </a:spcAft>
            </a:pPr>
            <a:r>
              <a:rPr sz="1000" b="0" i="0">
                <a:solidFill>
                  <a:srgbClr val="6B7482"/>
                </a:solidFill>
                <a:latin typeface="Calibri"/>
              </a:rPr>
              <a:t>800 px / 0.15</a:t>
            </a:r>
          </a:p>
        </p:txBody>
      </p:sp>
      <p:cxnSp>
        <p:nvCxnSpPr>
          <p:cNvPr id="11" name="Connector 10"/>
          <p:cNvCxnSpPr/>
          <p:nvPr/>
        </p:nvCxnSpPr>
        <p:spPr>
          <a:xfrm>
            <a:off x="6080760" y="2354580"/>
            <a:ext cx="173736" cy="0"/>
          </a:xfrm>
          <a:prstGeom prst="line">
            <a:avLst/>
          </a:prstGeom>
          <a:ln w="15875">
            <a:solidFill>
              <a:srgbClr val="11141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54496" y="1920240"/>
            <a:ext cx="1691640" cy="868680"/>
          </a:xfrm>
          <a:prstGeom prst="roundRect">
            <a:avLst>
              <a:gd name="adj" fmla="val 6000"/>
            </a:avLst>
          </a:prstGeom>
          <a:solidFill>
            <a:srgbClr val="FFFFFF"/>
          </a:solidFill>
          <a:ln w="9525">
            <a:solidFill>
              <a:srgbClr val="D8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00000"/>
              </a:lnSpc>
              <a:spcAft>
                <a:spcPts val="100"/>
              </a:spcAft>
            </a:pPr>
            <a:r>
              <a:rPr sz="1300" b="1" i="0">
                <a:solidFill>
                  <a:srgbClr val="111418"/>
                </a:solidFill>
                <a:latin typeface="Calibri"/>
              </a:rPr>
              <a:t>Suppress dup.</a:t>
            </a:r>
          </a:p>
          <a:p>
            <a:pPr algn="ctr">
              <a:lnSpc>
                <a:spcPct val="100000"/>
              </a:lnSpc>
              <a:spcAft>
                <a:spcPts val="0"/>
              </a:spcAft>
            </a:pPr>
            <a:r>
              <a:rPr sz="1000" b="0" i="0">
                <a:solidFill>
                  <a:srgbClr val="6B7482"/>
                </a:solidFill>
                <a:latin typeface="Calibri"/>
              </a:rPr>
              <a:t>IoU 0.40</a:t>
            </a:r>
          </a:p>
        </p:txBody>
      </p:sp>
      <p:cxnSp>
        <p:nvCxnSpPr>
          <p:cNvPr id="13" name="Connector 12"/>
          <p:cNvCxnSpPr/>
          <p:nvPr/>
        </p:nvCxnSpPr>
        <p:spPr>
          <a:xfrm>
            <a:off x="7946136" y="2354580"/>
            <a:ext cx="173736" cy="0"/>
          </a:xfrm>
          <a:prstGeom prst="line">
            <a:avLst/>
          </a:prstGeom>
          <a:ln w="15875">
            <a:solidFill>
              <a:srgbClr val="11141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19872" y="1920240"/>
            <a:ext cx="1691640" cy="868680"/>
          </a:xfrm>
          <a:prstGeom prst="roundRect">
            <a:avLst>
              <a:gd name="adj" fmla="val 6000"/>
            </a:avLst>
          </a:prstGeom>
          <a:solidFill>
            <a:srgbClr val="FFFFFF"/>
          </a:solidFill>
          <a:ln w="9525">
            <a:solidFill>
              <a:srgbClr val="D8DDD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00000"/>
              </a:lnSpc>
              <a:spcAft>
                <a:spcPts val="100"/>
              </a:spcAft>
            </a:pPr>
            <a:r>
              <a:rPr sz="1300" b="1" i="0">
                <a:solidFill>
                  <a:srgbClr val="111418"/>
                </a:solidFill>
                <a:latin typeface="Calibri"/>
              </a:rPr>
              <a:t>Crown mask</a:t>
            </a:r>
          </a:p>
          <a:p>
            <a:pPr algn="ctr">
              <a:lnSpc>
                <a:spcPct val="100000"/>
              </a:lnSpc>
              <a:spcAft>
                <a:spcPts val="0"/>
              </a:spcAft>
            </a:pPr>
            <a:r>
              <a:rPr sz="1000" b="0" i="0">
                <a:solidFill>
                  <a:srgbClr val="6B7482"/>
                </a:solidFill>
                <a:latin typeface="Calibri"/>
              </a:rPr>
              <a:t>optional</a:t>
            </a:r>
          </a:p>
        </p:txBody>
      </p:sp>
      <p:cxnSp>
        <p:nvCxnSpPr>
          <p:cNvPr id="15" name="Connector 14"/>
          <p:cNvCxnSpPr/>
          <p:nvPr/>
        </p:nvCxnSpPr>
        <p:spPr>
          <a:xfrm>
            <a:off x="9811512" y="2354580"/>
            <a:ext cx="173736" cy="0"/>
          </a:xfrm>
          <a:prstGeom prst="line">
            <a:avLst/>
          </a:prstGeom>
          <a:ln w="15875">
            <a:solidFill>
              <a:srgbClr val="11141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85248" y="1920240"/>
            <a:ext cx="1691640" cy="868680"/>
          </a:xfrm>
          <a:prstGeom prst="roundRect">
            <a:avLst>
              <a:gd name="adj" fmla="val 6000"/>
            </a:avLst>
          </a:prstGeom>
          <a:solidFill>
            <a:srgbClr val="EEF4F0"/>
          </a:solidFill>
          <a:ln w="9525">
            <a:solidFill>
              <a:srgbClr val="1F6B4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00000"/>
              </a:lnSpc>
              <a:spcAft>
                <a:spcPts val="100"/>
              </a:spcAft>
            </a:pPr>
            <a:r>
              <a:rPr sz="1300" b="1" i="0">
                <a:solidFill>
                  <a:srgbClr val="111418"/>
                </a:solidFill>
                <a:latin typeface="Calibri"/>
              </a:rPr>
              <a:t>Count · area</a:t>
            </a:r>
          </a:p>
          <a:p>
            <a:pPr algn="ctr">
              <a:lnSpc>
                <a:spcPct val="100000"/>
              </a:lnSpc>
              <a:spcAft>
                <a:spcPts val="0"/>
              </a:spcAft>
            </a:pPr>
            <a:r>
              <a:rPr sz="1000" b="0" i="0">
                <a:solidFill>
                  <a:srgbClr val="6B7482"/>
                </a:solidFill>
                <a:latin typeface="Calibri"/>
              </a:rPr>
              <a:t>cover interval</a:t>
            </a:r>
          </a:p>
        </p:txBody>
      </p:sp>
      <p:sp>
        <p:nvSpPr>
          <p:cNvPr id="17" name="TextBox 16"/>
          <p:cNvSpPr txBox="1"/>
          <p:nvPr/>
        </p:nvSpPr>
        <p:spPr>
          <a:xfrm>
            <a:off x="658368" y="3154680"/>
            <a:ext cx="10874959" cy="2880360"/>
          </a:xfrm>
          <a:prstGeom prst="rect">
            <a:avLst/>
          </a:prstGeom>
          <a:noFill/>
        </p:spPr>
        <p:txBody>
          <a:bodyPr wrap="square" anchor="t" lIns="0" rIns="0" tIns="0" bIns="0">
            <a:spAutoFit/>
          </a:bodyPr>
          <a:lstStyle/>
          <a:p>
            <a:pPr>
              <a:lnSpc>
                <a:spcPct val="114000"/>
              </a:lnSpc>
              <a:spcAft>
                <a:spcPts val="1100"/>
              </a:spcAft>
            </a:pPr>
            <a:r>
              <a:rPr b="1" sz="1400">
                <a:solidFill>
                  <a:srgbClr val="111418"/>
                </a:solidFill>
                <a:latin typeface="Calibri"/>
              </a:rPr>
              <a:t>Crown area. </a:t>
            </a:r>
            <a:r>
              <a:rPr sz="1400">
                <a:solidFill>
                  <a:srgbClr val="3B4250"/>
                </a:solidFill>
                <a:latin typeface="Calibri"/>
              </a:rPr>
              <a:t>pixel count × GSD².  Total = sum over accepted crowns.</a:t>
            </a:r>
          </a:p>
          <a:p>
            <a:pPr>
              <a:lnSpc>
                <a:spcPct val="114000"/>
              </a:lnSpc>
              <a:spcAft>
                <a:spcPts val="1100"/>
              </a:spcAft>
            </a:pPr>
            <a:r>
              <a:rPr b="1" sz="1400">
                <a:solidFill>
                  <a:srgbClr val="111418"/>
                </a:solidFill>
                <a:latin typeface="Calibri"/>
              </a:rPr>
              <a:t>Canopy cover. </a:t>
            </a:r>
            <a:r>
              <a:rPr sz="1400">
                <a:solidFill>
                  <a:srgbClr val="3B4250"/>
                </a:solidFill>
                <a:latin typeface="Calibri"/>
              </a:rPr>
              <a:t>the UNION of crown footprints ÷ analysed ground area — a union, so overlapping detections are not double counted.</a:t>
            </a:r>
          </a:p>
          <a:p>
            <a:pPr>
              <a:lnSpc>
                <a:spcPct val="114000"/>
              </a:lnSpc>
              <a:spcAft>
                <a:spcPts val="1100"/>
              </a:spcAft>
            </a:pPr>
            <a:r>
              <a:rPr b="1" sz="1400">
                <a:solidFill>
                  <a:srgbClr val="111418"/>
                </a:solidFill>
                <a:latin typeface="Calibri"/>
              </a:rPr>
              <a:t>Unknown GSD. </a:t>
            </a:r>
            <a:r>
              <a:rPr sz="1400">
                <a:solidFill>
                  <a:srgbClr val="3B4250"/>
                </a:solidFill>
                <a:latin typeface="Calibri"/>
              </a:rPr>
              <a:t>physical area withheld entirely; pixel areas reported instead. No default is assumed.</a:t>
            </a:r>
          </a:p>
          <a:p>
            <a:pPr>
              <a:lnSpc>
                <a:spcPct val="114000"/>
              </a:lnSpc>
              <a:spcAft>
                <a:spcPts val="1100"/>
              </a:spcAft>
            </a:pPr>
            <a:r>
              <a:rPr b="1" sz="1400">
                <a:solidFill>
                  <a:srgbClr val="111418"/>
                </a:solidFill>
                <a:latin typeface="Calibri"/>
              </a:rPr>
              <a:t>One implementation. </a:t>
            </a:r>
            <a:r>
              <a:rPr sz="1400">
                <a:solidFill>
                  <a:srgbClr val="3B4250"/>
                </a:solidFill>
                <a:latin typeface="Calibri"/>
              </a:rPr>
              <a:t>the UI, the CSV and the GeoJSON all call the same conversion, so the tests that pin the arithmetic pin the reported numbers.</a:t>
            </a:r>
          </a:p>
        </p:txBody>
      </p:sp>
      <p:sp>
        <p:nvSpPr>
          <p:cNvPr id="18" name="Rectangle 17"/>
          <p:cNvSpPr/>
          <p:nvPr/>
        </p:nvSpPr>
        <p:spPr>
          <a:xfrm>
            <a:off x="658368" y="5532120"/>
            <a:ext cx="10874959" cy="658368"/>
          </a:xfrm>
          <a:prstGeom prst="rect">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532120"/>
            <a:ext cx="41148" cy="658368"/>
          </a:xfrm>
          <a:prstGeom prst="rect">
            <a:avLst/>
          </a:prstGeom>
          <a:solidFill>
            <a:srgbClr val="1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5678424"/>
            <a:ext cx="10417759" cy="384048"/>
          </a:xfrm>
          <a:prstGeom prst="rect">
            <a:avLst/>
          </a:prstGeom>
          <a:noFill/>
        </p:spPr>
        <p:txBody>
          <a:bodyPr wrap="square" anchor="t" lIns="0" rIns="0" tIns="0" bIns="0">
            <a:spAutoFit/>
          </a:bodyPr>
          <a:lstStyle/>
          <a:p>
            <a:pPr algn="l">
              <a:lnSpc>
                <a:spcPct val="112000"/>
              </a:lnSpc>
              <a:spcAft>
                <a:spcPts val="0"/>
              </a:spcAft>
            </a:pPr>
            <a:r>
              <a:rPr sz="1400" b="0" i="0">
                <a:solidFill>
                  <a:srgbClr val="111418"/>
                </a:solidFill>
                <a:latin typeface="Calibri"/>
              </a:rPr>
              <a:t>Counting and area are separate stages on purpose: the count comes from the detector, the area from whatever crown geometry is defensible for that imagery.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FINDING 1 OF 3</a:t>
            </a:r>
          </a:p>
          <a:p>
            <a:pPr algn="l">
              <a:lnSpc>
                <a:spcPct val="95000"/>
              </a:lnSpc>
              <a:spcAft>
                <a:spcPts val="0"/>
              </a:spcAft>
            </a:pPr>
            <a:r>
              <a:rPr sz="2700" b="1" i="0">
                <a:solidFill>
                  <a:srgbClr val="111418"/>
                </a:solidFill>
                <a:latin typeface="Calibri"/>
              </a:rPr>
              <a:t>The detector fails on satellite imagery at native scale</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6</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pic>
        <p:nvPicPr>
          <p:cNvPr id="6" name="Picture 5" descr="fig_native.jpg"/>
          <p:cNvPicPr>
            <a:picLocks noChangeAspect="1"/>
          </p:cNvPicPr>
          <p:nvPr/>
        </p:nvPicPr>
        <p:blipFill>
          <a:blip r:embed="rId2"/>
          <a:stretch>
            <a:fillRect/>
          </a:stretch>
        </p:blipFill>
        <p:spPr>
          <a:xfrm>
            <a:off x="658368" y="1828800"/>
            <a:ext cx="2514600" cy="2514600"/>
          </a:xfrm>
          <a:prstGeom prst="rect">
            <a:avLst/>
          </a:prstGeom>
        </p:spPr>
      </p:pic>
      <p:pic>
        <p:nvPicPr>
          <p:cNvPr id="7" name="Picture 6" descr="fig_resampled.jpg"/>
          <p:cNvPicPr>
            <a:picLocks noChangeAspect="1"/>
          </p:cNvPicPr>
          <p:nvPr/>
        </p:nvPicPr>
        <p:blipFill>
          <a:blip r:embed="rId3"/>
          <a:stretch>
            <a:fillRect/>
          </a:stretch>
        </p:blipFill>
        <p:spPr>
          <a:xfrm>
            <a:off x="3246120" y="1828800"/>
            <a:ext cx="2514600" cy="2514600"/>
          </a:xfrm>
          <a:prstGeom prst="rect">
            <a:avLst/>
          </a:prstGeom>
        </p:spPr>
      </p:pic>
      <p:sp>
        <p:nvSpPr>
          <p:cNvPr id="8" name="TextBox 7"/>
          <p:cNvSpPr txBox="1"/>
          <p:nvPr/>
        </p:nvSpPr>
        <p:spPr>
          <a:xfrm>
            <a:off x="658368" y="4434840"/>
            <a:ext cx="5120640" cy="457200"/>
          </a:xfrm>
          <a:prstGeom prst="rect">
            <a:avLst/>
          </a:prstGeom>
          <a:noFill/>
        </p:spPr>
        <p:txBody>
          <a:bodyPr wrap="square" anchor="t" lIns="0" rIns="0" tIns="0" bIns="0">
            <a:spAutoFit/>
          </a:bodyPr>
          <a:lstStyle/>
          <a:p>
            <a:pPr algn="l">
              <a:lnSpc>
                <a:spcPct val="100000"/>
              </a:lnSpc>
              <a:spcAft>
                <a:spcPts val="600"/>
              </a:spcAft>
            </a:pPr>
            <a:r>
              <a:rPr sz="1100" b="0" i="0">
                <a:solidFill>
                  <a:srgbClr val="6B7482"/>
                </a:solidFill>
                <a:latin typeface="Calibri"/>
              </a:rPr>
              <a:t>Same scene, same settings. Left: native 0.305 m, 57 crowns.  Right: resampled 3.05×, 695 crowns.</a:t>
            </a:r>
          </a:p>
        </p:txBody>
      </p:sp>
      <p:graphicFrame>
        <p:nvGraphicFramePr>
          <p:cNvPr id="9" name="Table 8"/>
          <p:cNvGraphicFramePr>
            <a:graphicFrameLocks noGrp="1"/>
          </p:cNvGraphicFramePr>
          <p:nvPr/>
        </p:nvGraphicFramePr>
        <p:xfrm>
          <a:off x="6172200" y="1828800"/>
          <a:ext cx="5349238" cy="1463040"/>
        </p:xfrm>
        <a:graphic>
          <a:graphicData uri="http://schemas.openxmlformats.org/drawingml/2006/table">
            <a:tbl>
              <a:tblPr firstRow="1" bandRow="1">
                <a:tableStyleId>{5C22544A-7EE6-4342-B048-85BDC9FD1C3A}</a:tableStyleId>
              </a:tblPr>
              <a:tblGrid>
                <a:gridCol w="878233"/>
                <a:gridCol w="1117751"/>
                <a:gridCol w="798394"/>
                <a:gridCol w="798394"/>
                <a:gridCol w="1756466"/>
              </a:tblGrid>
              <a:tr h="292608">
                <a:tc>
                  <a:txBody>
                    <a:bodyPr/>
                    <a:lstStyle/>
                    <a:p>
                      <a:pPr algn="l"/>
                      <a:r>
                        <a:rPr sz="1200" b="1">
                          <a:solidFill>
                            <a:srgbClr val="FFFFFF"/>
                          </a:solidFill>
                          <a:latin typeface="Calibri"/>
                        </a:rPr>
                        <a:t>Scale</a:t>
                      </a:r>
                    </a:p>
                  </a:txBody>
                  <a:tcPr marL="73152" marR="73152" marT="0" marB="0" anchor="ctr">
                    <a:solidFill>
                      <a:srgbClr val="14512F"/>
                    </a:solidFill>
                  </a:tcPr>
                </a:tc>
                <a:tc>
                  <a:txBody>
                    <a:bodyPr/>
                    <a:lstStyle/>
                    <a:p>
                      <a:pPr algn="r"/>
                      <a:r>
                        <a:rPr sz="1200" b="1">
                          <a:solidFill>
                            <a:srgbClr val="FFFFFF"/>
                          </a:solidFill>
                          <a:latin typeface="Calibri"/>
                        </a:rPr>
                        <a:t>Eff. GSD</a:t>
                      </a:r>
                    </a:p>
                  </a:txBody>
                  <a:tcPr marL="73152" marR="73152" marT="0" marB="0" anchor="ctr">
                    <a:solidFill>
                      <a:srgbClr val="14512F"/>
                    </a:solidFill>
                  </a:tcPr>
                </a:tc>
                <a:tc>
                  <a:txBody>
                    <a:bodyPr/>
                    <a:lstStyle/>
                    <a:p>
                      <a:pPr algn="r"/>
                      <a:r>
                        <a:rPr sz="1200" b="1">
                          <a:solidFill>
                            <a:srgbClr val="FFFFFF"/>
                          </a:solidFill>
                          <a:latin typeface="Calibri"/>
                        </a:rPr>
                        <a:t>Trees</a:t>
                      </a:r>
                    </a:p>
                  </a:txBody>
                  <a:tcPr marL="73152" marR="73152" marT="0" marB="0" anchor="ctr">
                    <a:solidFill>
                      <a:srgbClr val="14512F"/>
                    </a:solidFill>
                  </a:tcPr>
                </a:tc>
                <a:tc>
                  <a:txBody>
                    <a:bodyPr/>
                    <a:lstStyle/>
                    <a:p>
                      <a:pPr algn="r"/>
                      <a:r>
                        <a:rPr sz="1200" b="1">
                          <a:solidFill>
                            <a:srgbClr val="FFFFFF"/>
                          </a:solidFill>
                          <a:latin typeface="Calibri"/>
                        </a:rPr>
                        <a:t>/ha</a:t>
                      </a:r>
                    </a:p>
                  </a:txBody>
                  <a:tcPr marL="73152" marR="73152" marT="0" marB="0" anchor="ctr">
                    <a:solidFill>
                      <a:srgbClr val="14512F"/>
                    </a:solidFill>
                  </a:tcPr>
                </a:tc>
                <a:tc>
                  <a:txBody>
                    <a:bodyPr/>
                    <a:lstStyle/>
                    <a:p>
                      <a:pPr algn="r"/>
                      <a:r>
                        <a:rPr sz="1200" b="1">
                          <a:solidFill>
                            <a:srgbClr val="FFFFFF"/>
                          </a:solidFill>
                          <a:latin typeface="Calibri"/>
                        </a:rPr>
                        <a:t>Mean crown</a:t>
                      </a:r>
                    </a:p>
                  </a:txBody>
                  <a:tcPr marL="73152" marR="73152" marT="0" marB="0" anchor="ctr">
                    <a:solidFill>
                      <a:srgbClr val="14512F"/>
                    </a:solidFill>
                  </a:tcPr>
                </a:tc>
              </a:tr>
              <a:tr h="292608">
                <a:tc>
                  <a:txBody>
                    <a:bodyPr/>
                    <a:lstStyle/>
                    <a:p>
                      <a:pPr algn="l"/>
                      <a:r>
                        <a:rPr sz="1200" b="0">
                          <a:solidFill>
                            <a:srgbClr val="111418"/>
                          </a:solidFill>
                          <a:latin typeface="Calibri"/>
                        </a:rPr>
                        <a:t>1×</a:t>
                      </a:r>
                    </a:p>
                  </a:txBody>
                  <a:tcPr marL="73152" marR="73152" marT="0" marB="0" anchor="ctr">
                    <a:solidFill>
                      <a:srgbClr val="FFFFFF"/>
                    </a:solidFill>
                  </a:tcPr>
                </a:tc>
                <a:tc>
                  <a:txBody>
                    <a:bodyPr/>
                    <a:lstStyle/>
                    <a:p>
                      <a:pPr algn="r"/>
                      <a:r>
                        <a:rPr sz="1200" b="0">
                          <a:solidFill>
                            <a:srgbClr val="111418"/>
                          </a:solidFill>
                          <a:latin typeface="Calibri"/>
                        </a:rPr>
                        <a:t>0.305 m</a:t>
                      </a:r>
                    </a:p>
                  </a:txBody>
                  <a:tcPr marL="73152" marR="73152" marT="0" marB="0" anchor="ctr">
                    <a:solidFill>
                      <a:srgbClr val="FFFFFF"/>
                    </a:solidFill>
                  </a:tcPr>
                </a:tc>
                <a:tc>
                  <a:txBody>
                    <a:bodyPr/>
                    <a:lstStyle/>
                    <a:p>
                      <a:pPr algn="r"/>
                      <a:r>
                        <a:rPr sz="1200" b="0">
                          <a:solidFill>
                            <a:srgbClr val="111418"/>
                          </a:solidFill>
                          <a:latin typeface="Calibri"/>
                        </a:rPr>
                        <a:t>57</a:t>
                      </a:r>
                    </a:p>
                  </a:txBody>
                  <a:tcPr marL="73152" marR="73152" marT="0" marB="0" anchor="ctr">
                    <a:solidFill>
                      <a:srgbClr val="FFFFFF"/>
                    </a:solidFill>
                  </a:tcPr>
                </a:tc>
                <a:tc>
                  <a:txBody>
                    <a:bodyPr/>
                    <a:lstStyle/>
                    <a:p>
                      <a:pPr algn="r"/>
                      <a:r>
                        <a:rPr sz="1200" b="0">
                          <a:solidFill>
                            <a:srgbClr val="111418"/>
                          </a:solidFill>
                          <a:latin typeface="Calibri"/>
                        </a:rPr>
                        <a:t>5.8</a:t>
                      </a:r>
                    </a:p>
                  </a:txBody>
                  <a:tcPr marL="73152" marR="73152" marT="0" marB="0" anchor="ctr">
                    <a:solidFill>
                      <a:srgbClr val="FFFFFF"/>
                    </a:solidFill>
                  </a:tcPr>
                </a:tc>
                <a:tc>
                  <a:txBody>
                    <a:bodyPr/>
                    <a:lstStyle/>
                    <a:p>
                      <a:pPr algn="r"/>
                      <a:r>
                        <a:rPr sz="1200" b="0">
                          <a:solidFill>
                            <a:srgbClr val="111418"/>
                          </a:solidFill>
                          <a:latin typeface="Calibri"/>
                        </a:rPr>
                        <a:t>179 m² (15.1 m)</a:t>
                      </a:r>
                    </a:p>
                  </a:txBody>
                  <a:tcPr marL="73152" marR="73152" marT="0" marB="0" anchor="ctr">
                    <a:solidFill>
                      <a:srgbClr val="FFFFFF"/>
                    </a:solidFill>
                  </a:tcPr>
                </a:tc>
              </a:tr>
              <a:tr h="292608">
                <a:tc>
                  <a:txBody>
                    <a:bodyPr/>
                    <a:lstStyle/>
                    <a:p>
                      <a:pPr algn="l"/>
                      <a:r>
                        <a:rPr sz="1200" b="0">
                          <a:solidFill>
                            <a:srgbClr val="111418"/>
                          </a:solidFill>
                          <a:latin typeface="Calibri"/>
                        </a:rPr>
                        <a:t>2×</a:t>
                      </a:r>
                    </a:p>
                  </a:txBody>
                  <a:tcPr marL="73152" marR="73152" marT="0" marB="0" anchor="ctr">
                    <a:solidFill>
                      <a:srgbClr val="FFFFFF"/>
                    </a:solidFill>
                  </a:tcPr>
                </a:tc>
                <a:tc>
                  <a:txBody>
                    <a:bodyPr/>
                    <a:lstStyle/>
                    <a:p>
                      <a:pPr algn="r"/>
                      <a:r>
                        <a:rPr sz="1200" b="0">
                          <a:solidFill>
                            <a:srgbClr val="111418"/>
                          </a:solidFill>
                          <a:latin typeface="Calibri"/>
                        </a:rPr>
                        <a:t>0.153 m</a:t>
                      </a:r>
                    </a:p>
                  </a:txBody>
                  <a:tcPr marL="73152" marR="73152" marT="0" marB="0" anchor="ctr">
                    <a:solidFill>
                      <a:srgbClr val="FFFFFF"/>
                    </a:solidFill>
                  </a:tcPr>
                </a:tc>
                <a:tc>
                  <a:txBody>
                    <a:bodyPr/>
                    <a:lstStyle/>
                    <a:p>
                      <a:pPr algn="r"/>
                      <a:r>
                        <a:rPr sz="1200" b="0">
                          <a:solidFill>
                            <a:srgbClr val="111418"/>
                          </a:solidFill>
                          <a:latin typeface="Calibri"/>
                        </a:rPr>
                        <a:t>392</a:t>
                      </a:r>
                    </a:p>
                  </a:txBody>
                  <a:tcPr marL="73152" marR="73152" marT="0" marB="0" anchor="ctr">
                    <a:solidFill>
                      <a:srgbClr val="FFFFFF"/>
                    </a:solidFill>
                  </a:tcPr>
                </a:tc>
                <a:tc>
                  <a:txBody>
                    <a:bodyPr/>
                    <a:lstStyle/>
                    <a:p>
                      <a:pPr algn="r"/>
                      <a:r>
                        <a:rPr sz="1200" b="0">
                          <a:solidFill>
                            <a:srgbClr val="111418"/>
                          </a:solidFill>
                          <a:latin typeface="Calibri"/>
                        </a:rPr>
                        <a:t>40.1</a:t>
                      </a:r>
                    </a:p>
                  </a:txBody>
                  <a:tcPr marL="73152" marR="73152" marT="0" marB="0" anchor="ctr">
                    <a:solidFill>
                      <a:srgbClr val="FFFFFF"/>
                    </a:solidFill>
                  </a:tcPr>
                </a:tc>
                <a:tc>
                  <a:txBody>
                    <a:bodyPr/>
                    <a:lstStyle/>
                    <a:p>
                      <a:pPr algn="r"/>
                      <a:r>
                        <a:rPr sz="1200" b="0">
                          <a:solidFill>
                            <a:srgbClr val="111418"/>
                          </a:solidFill>
                          <a:latin typeface="Calibri"/>
                        </a:rPr>
                        <a:t>49.0 m² (7.9 m)</a:t>
                      </a:r>
                    </a:p>
                  </a:txBody>
                  <a:tcPr marL="73152" marR="73152" marT="0" marB="0" anchor="ctr">
                    <a:solidFill>
                      <a:srgbClr val="FFFFFF"/>
                    </a:solidFill>
                  </a:tcPr>
                </a:tc>
              </a:tr>
              <a:tr h="292608">
                <a:tc>
                  <a:txBody>
                    <a:bodyPr/>
                    <a:lstStyle/>
                    <a:p>
                      <a:pPr algn="l"/>
                      <a:r>
                        <a:rPr sz="1200" b="1">
                          <a:solidFill>
                            <a:srgbClr val="111418"/>
                          </a:solidFill>
                          <a:latin typeface="Calibri"/>
                        </a:rPr>
                        <a:t>3.05×</a:t>
                      </a:r>
                    </a:p>
                  </a:txBody>
                  <a:tcPr marL="73152" marR="73152" marT="0" marB="0" anchor="ctr">
                    <a:solidFill>
                      <a:srgbClr val="EEF4F0"/>
                    </a:solidFill>
                  </a:tcPr>
                </a:tc>
                <a:tc>
                  <a:txBody>
                    <a:bodyPr/>
                    <a:lstStyle/>
                    <a:p>
                      <a:pPr algn="r"/>
                      <a:r>
                        <a:rPr sz="1200" b="1">
                          <a:solidFill>
                            <a:srgbClr val="111418"/>
                          </a:solidFill>
                          <a:latin typeface="Calibri"/>
                        </a:rPr>
                        <a:t>0.100 m</a:t>
                      </a:r>
                    </a:p>
                  </a:txBody>
                  <a:tcPr marL="73152" marR="73152" marT="0" marB="0" anchor="ctr">
                    <a:solidFill>
                      <a:srgbClr val="EEF4F0"/>
                    </a:solidFill>
                  </a:tcPr>
                </a:tc>
                <a:tc>
                  <a:txBody>
                    <a:bodyPr/>
                    <a:lstStyle/>
                    <a:p>
                      <a:pPr algn="r"/>
                      <a:r>
                        <a:rPr sz="1200" b="1">
                          <a:solidFill>
                            <a:srgbClr val="111418"/>
                          </a:solidFill>
                          <a:latin typeface="Calibri"/>
                        </a:rPr>
                        <a:t>695</a:t>
                      </a:r>
                    </a:p>
                  </a:txBody>
                  <a:tcPr marL="73152" marR="73152" marT="0" marB="0" anchor="ctr">
                    <a:solidFill>
                      <a:srgbClr val="EEF4F0"/>
                    </a:solidFill>
                  </a:tcPr>
                </a:tc>
                <a:tc>
                  <a:txBody>
                    <a:bodyPr/>
                    <a:lstStyle/>
                    <a:p>
                      <a:pPr algn="r"/>
                      <a:r>
                        <a:rPr sz="1200" b="1">
                          <a:solidFill>
                            <a:srgbClr val="111418"/>
                          </a:solidFill>
                          <a:latin typeface="Calibri"/>
                        </a:rPr>
                        <a:t>71.2</a:t>
                      </a:r>
                    </a:p>
                  </a:txBody>
                  <a:tcPr marL="73152" marR="73152" marT="0" marB="0" anchor="ctr">
                    <a:solidFill>
                      <a:srgbClr val="EEF4F0"/>
                    </a:solidFill>
                  </a:tcPr>
                </a:tc>
                <a:tc>
                  <a:txBody>
                    <a:bodyPr/>
                    <a:lstStyle/>
                    <a:p>
                      <a:pPr algn="r"/>
                      <a:r>
                        <a:rPr sz="1200" b="1">
                          <a:solidFill>
                            <a:srgbClr val="111418"/>
                          </a:solidFill>
                          <a:latin typeface="Calibri"/>
                        </a:rPr>
                        <a:t>21.3 m² (5.2 m)</a:t>
                      </a:r>
                    </a:p>
                  </a:txBody>
                  <a:tcPr marL="73152" marR="73152" marT="0" marB="0" anchor="ctr">
                    <a:solidFill>
                      <a:srgbClr val="EEF4F0"/>
                    </a:solidFill>
                  </a:tcPr>
                </a:tc>
              </a:tr>
              <a:tr h="292608">
                <a:tc>
                  <a:txBody>
                    <a:bodyPr/>
                    <a:lstStyle/>
                    <a:p>
                      <a:pPr algn="l"/>
                      <a:r>
                        <a:rPr sz="1200" b="0">
                          <a:solidFill>
                            <a:srgbClr val="111418"/>
                          </a:solidFill>
                          <a:latin typeface="Calibri"/>
                        </a:rPr>
                        <a:t>4×</a:t>
                      </a:r>
                    </a:p>
                  </a:txBody>
                  <a:tcPr marL="73152" marR="73152" marT="0" marB="0" anchor="ctr">
                    <a:solidFill>
                      <a:srgbClr val="FFFFFF"/>
                    </a:solidFill>
                  </a:tcPr>
                </a:tc>
                <a:tc>
                  <a:txBody>
                    <a:bodyPr/>
                    <a:lstStyle/>
                    <a:p>
                      <a:pPr algn="r"/>
                      <a:r>
                        <a:rPr sz="1200" b="0">
                          <a:solidFill>
                            <a:srgbClr val="111418"/>
                          </a:solidFill>
                          <a:latin typeface="Calibri"/>
                        </a:rPr>
                        <a:t>0.076 m</a:t>
                      </a:r>
                    </a:p>
                  </a:txBody>
                  <a:tcPr marL="73152" marR="73152" marT="0" marB="0" anchor="ctr">
                    <a:solidFill>
                      <a:srgbClr val="FFFFFF"/>
                    </a:solidFill>
                  </a:tcPr>
                </a:tc>
                <a:tc>
                  <a:txBody>
                    <a:bodyPr/>
                    <a:lstStyle/>
                    <a:p>
                      <a:pPr algn="r"/>
                      <a:r>
                        <a:rPr sz="1200" b="0">
                          <a:solidFill>
                            <a:srgbClr val="111418"/>
                          </a:solidFill>
                          <a:latin typeface="Calibri"/>
                        </a:rPr>
                        <a:t>836</a:t>
                      </a:r>
                    </a:p>
                  </a:txBody>
                  <a:tcPr marL="73152" marR="73152" marT="0" marB="0" anchor="ctr">
                    <a:solidFill>
                      <a:srgbClr val="FFFFFF"/>
                    </a:solidFill>
                  </a:tcPr>
                </a:tc>
                <a:tc>
                  <a:txBody>
                    <a:bodyPr/>
                    <a:lstStyle/>
                    <a:p>
                      <a:pPr algn="r"/>
                      <a:r>
                        <a:rPr sz="1200" b="0">
                          <a:solidFill>
                            <a:srgbClr val="111418"/>
                          </a:solidFill>
                          <a:latin typeface="Calibri"/>
                        </a:rPr>
                        <a:t>85.6</a:t>
                      </a:r>
                    </a:p>
                  </a:txBody>
                  <a:tcPr marL="73152" marR="73152" marT="0" marB="0" anchor="ctr">
                    <a:solidFill>
                      <a:srgbClr val="FFFFFF"/>
                    </a:solidFill>
                  </a:tcPr>
                </a:tc>
                <a:tc>
                  <a:txBody>
                    <a:bodyPr/>
                    <a:lstStyle/>
                    <a:p>
                      <a:pPr algn="r"/>
                      <a:r>
                        <a:rPr sz="1200" b="0">
                          <a:solidFill>
                            <a:srgbClr val="111418"/>
                          </a:solidFill>
                          <a:latin typeface="Calibri"/>
                        </a:rPr>
                        <a:t>12.1 m² (3.9 m)</a:t>
                      </a:r>
                    </a:p>
                  </a:txBody>
                  <a:tcPr marL="73152" marR="73152" marT="0" marB="0" anchor="ctr">
                    <a:solidFill>
                      <a:srgbClr val="FFFFFF"/>
                    </a:solidFill>
                  </a:tcPr>
                </a:tc>
              </a:tr>
            </a:tbl>
          </a:graphicData>
        </a:graphic>
      </p:graphicFrame>
      <p:sp>
        <p:nvSpPr>
          <p:cNvPr id="10" name="TextBox 9"/>
          <p:cNvSpPr txBox="1"/>
          <p:nvPr/>
        </p:nvSpPr>
        <p:spPr>
          <a:xfrm>
            <a:off x="6172200" y="3520440"/>
            <a:ext cx="5349240" cy="2514600"/>
          </a:xfrm>
          <a:prstGeom prst="rect">
            <a:avLst/>
          </a:prstGeom>
          <a:noFill/>
        </p:spPr>
        <p:txBody>
          <a:bodyPr wrap="square" anchor="t" lIns="0" rIns="0" tIns="0" bIns="0">
            <a:spAutoFit/>
          </a:bodyPr>
          <a:lstStyle/>
          <a:p>
            <a:pPr>
              <a:lnSpc>
                <a:spcPct val="114000"/>
              </a:lnSpc>
              <a:spcAft>
                <a:spcPts val="1100"/>
              </a:spcAft>
            </a:pPr>
            <a:r>
              <a:rPr sz="1400">
                <a:solidFill>
                  <a:srgbClr val="111418"/>
                </a:solidFill>
                <a:latin typeface="Calibri"/>
              </a:rPr>
              <a:t>At native scale: 5.8 trees/ha with 15 m “crowns”. Real crowns here are 4–8 m. The model was trained on ~0.10 m imagery.</a:t>
            </a:r>
          </a:p>
          <a:p>
            <a:pPr>
              <a:lnSpc>
                <a:spcPct val="114000"/>
              </a:lnSpc>
              <a:spcAft>
                <a:spcPts val="1100"/>
              </a:spcAft>
            </a:pPr>
            <a:r>
              <a:rPr sz="1400">
                <a:solidFill>
                  <a:srgbClr val="111418"/>
                </a:solidFill>
                <a:latin typeface="Calibri"/>
              </a:rPr>
              <a:t>So the detection input is resampled to the model's training GSD — the same crop then gives 71.2 trees/ha with 5.2 m crowns.</a:t>
            </a:r>
          </a:p>
        </p:txBody>
      </p:sp>
      <p:sp>
        <p:nvSpPr>
          <p:cNvPr id="11" name="Rectangle 10"/>
          <p:cNvSpPr/>
          <p:nvPr/>
        </p:nvSpPr>
        <p:spPr>
          <a:xfrm>
            <a:off x="6172200" y="4892040"/>
            <a:ext cx="5349240" cy="1234440"/>
          </a:xfrm>
          <a:prstGeom prst="rect">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4892040"/>
            <a:ext cx="41148" cy="1234440"/>
          </a:xfrm>
          <a:prstGeom prst="rect">
            <a:avLst/>
          </a:prstGeom>
          <a:solidFill>
            <a:srgbClr val="9A62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5038344"/>
            <a:ext cx="4892040" cy="960120"/>
          </a:xfrm>
          <a:prstGeom prst="rect">
            <a:avLst/>
          </a:prstGeom>
          <a:noFill/>
        </p:spPr>
        <p:txBody>
          <a:bodyPr wrap="square" anchor="t" lIns="0" rIns="0" tIns="0" bIns="0">
            <a:spAutoFit/>
          </a:bodyPr>
          <a:lstStyle/>
          <a:p>
            <a:pPr algn="l">
              <a:lnSpc>
                <a:spcPct val="112000"/>
              </a:lnSpc>
              <a:spcAft>
                <a:spcPts val="0"/>
              </a:spcAft>
            </a:pPr>
            <a:r>
              <a:rPr sz="1400" b="0" i="0">
                <a:solidFill>
                  <a:srgbClr val="111418"/>
                </a:solidFill>
                <a:latin typeface="Calibri"/>
              </a:rPr>
              <a:t>3.05× is anchored to the model's documented training GSD — not picked. The count never plateaus, so choosing the nicest number would be tuning to a preferred answer. And resampling adds no information.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FINDING 2 OF 3</a:t>
            </a:r>
          </a:p>
          <a:p>
            <a:pPr algn="l">
              <a:lnSpc>
                <a:spcPct val="95000"/>
              </a:lnSpc>
              <a:spcAft>
                <a:spcPts val="0"/>
              </a:spcAft>
            </a:pPr>
            <a:r>
              <a:rPr sz="2700" b="1" i="0">
                <a:solidFill>
                  <a:srgbClr val="111418"/>
                </a:solidFill>
                <a:latin typeface="Calibri"/>
              </a:rPr>
              <a:t>Canopy closure, not resolution, is the binding constraint</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7</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pic>
        <p:nvPicPr>
          <p:cNvPr id="6" name="Picture 5" descr="fig_closed.jpg"/>
          <p:cNvPicPr>
            <a:picLocks noChangeAspect="1"/>
          </p:cNvPicPr>
          <p:nvPr/>
        </p:nvPicPr>
        <p:blipFill>
          <a:blip r:embed="rId2"/>
          <a:stretch>
            <a:fillRect/>
          </a:stretch>
        </p:blipFill>
        <p:spPr>
          <a:xfrm>
            <a:off x="658368" y="1828800"/>
            <a:ext cx="3200400" cy="3200400"/>
          </a:xfrm>
          <a:prstGeom prst="rect">
            <a:avLst/>
          </a:prstGeom>
        </p:spPr>
      </p:pic>
      <p:sp>
        <p:nvSpPr>
          <p:cNvPr id="7" name="TextBox 6"/>
          <p:cNvSpPr txBox="1"/>
          <p:nvPr/>
        </p:nvSpPr>
        <p:spPr>
          <a:xfrm>
            <a:off x="658368" y="5120640"/>
            <a:ext cx="3291840" cy="548640"/>
          </a:xfrm>
          <a:prstGeom prst="rect">
            <a:avLst/>
          </a:prstGeom>
          <a:noFill/>
        </p:spPr>
        <p:txBody>
          <a:bodyPr wrap="square" anchor="t" lIns="0" rIns="0" tIns="0" bIns="0">
            <a:spAutoFit/>
          </a:bodyPr>
          <a:lstStyle/>
          <a:p>
            <a:pPr algn="l">
              <a:lnSpc>
                <a:spcPct val="100000"/>
              </a:lnSpc>
              <a:spcAft>
                <a:spcPts val="600"/>
              </a:spcAft>
            </a:pPr>
            <a:r>
              <a:rPr sz="1100" b="0" i="0">
                <a:solidFill>
                  <a:srgbClr val="6B7482"/>
                </a:solidFill>
                <a:latin typeface="Calibri"/>
              </a:rPr>
              <a:t>S2 at native 0.10 m — the detector's own training resolution, no resampling.</a:t>
            </a:r>
          </a:p>
        </p:txBody>
      </p:sp>
      <p:graphicFrame>
        <p:nvGraphicFramePr>
          <p:cNvPr id="8" name="Table 7"/>
          <p:cNvGraphicFramePr>
            <a:graphicFrameLocks noGrp="1"/>
          </p:cNvGraphicFramePr>
          <p:nvPr/>
        </p:nvGraphicFramePr>
        <p:xfrm>
          <a:off x="4480560" y="1828800"/>
          <a:ext cx="7040877" cy="1170432"/>
        </p:xfrm>
        <a:graphic>
          <a:graphicData uri="http://schemas.openxmlformats.org/drawingml/2006/table">
            <a:tbl>
              <a:tblPr firstRow="1" bandRow="1">
                <a:tableStyleId>{5C22544A-7EE6-4342-B048-85BDC9FD1C3A}</a:tableStyleId>
              </a:tblPr>
              <a:tblGrid>
                <a:gridCol w="1526937"/>
                <a:gridCol w="933128"/>
                <a:gridCol w="1187618"/>
                <a:gridCol w="1866257"/>
                <a:gridCol w="1526937"/>
              </a:tblGrid>
              <a:tr h="292608">
                <a:tc>
                  <a:txBody>
                    <a:bodyPr/>
                    <a:lstStyle/>
                    <a:p>
                      <a:pPr algn="l"/>
                      <a:r>
                        <a:rPr sz="1200" b="1">
                          <a:solidFill>
                            <a:srgbClr val="FFFFFF"/>
                          </a:solidFill>
                          <a:latin typeface="Calibri"/>
                        </a:rPr>
                        <a:t>Scene</a:t>
                      </a:r>
                    </a:p>
                  </a:txBody>
                  <a:tcPr marL="73152" marR="73152" marT="0" marB="0" anchor="ctr">
                    <a:solidFill>
                      <a:srgbClr val="14512F"/>
                    </a:solidFill>
                  </a:tcPr>
                </a:tc>
                <a:tc>
                  <a:txBody>
                    <a:bodyPr/>
                    <a:lstStyle/>
                    <a:p>
                      <a:pPr algn="r"/>
                      <a:r>
                        <a:rPr sz="1200" b="1">
                          <a:solidFill>
                            <a:srgbClr val="FFFFFF"/>
                          </a:solidFill>
                          <a:latin typeface="Calibri"/>
                        </a:rPr>
                        <a:t>GSD</a:t>
                      </a:r>
                    </a:p>
                  </a:txBody>
                  <a:tcPr marL="73152" marR="73152" marT="0" marB="0" anchor="ctr">
                    <a:solidFill>
                      <a:srgbClr val="14512F"/>
                    </a:solidFill>
                  </a:tcPr>
                </a:tc>
                <a:tc>
                  <a:txBody>
                    <a:bodyPr/>
                    <a:lstStyle/>
                    <a:p>
                      <a:pPr algn="r"/>
                      <a:r>
                        <a:rPr sz="1200" b="1">
                          <a:solidFill>
                            <a:srgbClr val="FFFFFF"/>
                          </a:solidFill>
                          <a:latin typeface="Calibri"/>
                        </a:rPr>
                        <a:t>Trees/ha</a:t>
                      </a:r>
                    </a:p>
                  </a:txBody>
                  <a:tcPr marL="73152" marR="73152" marT="0" marB="0" anchor="ctr">
                    <a:solidFill>
                      <a:srgbClr val="14512F"/>
                    </a:solidFill>
                  </a:tcPr>
                </a:tc>
                <a:tc>
                  <a:txBody>
                    <a:bodyPr/>
                    <a:lstStyle/>
                    <a:p>
                      <a:pPr algn="r"/>
                      <a:r>
                        <a:rPr sz="1200" b="1">
                          <a:solidFill>
                            <a:srgbClr val="FFFFFF"/>
                          </a:solidFill>
                          <a:latin typeface="Calibri"/>
                        </a:rPr>
                        <a:t>Cover (crown union)</a:t>
                      </a:r>
                    </a:p>
                  </a:txBody>
                  <a:tcPr marL="73152" marR="73152" marT="0" marB="0" anchor="ctr">
                    <a:solidFill>
                      <a:srgbClr val="14512F"/>
                    </a:solidFill>
                  </a:tcPr>
                </a:tc>
                <a:tc>
                  <a:txBody>
                    <a:bodyPr/>
                    <a:lstStyle/>
                    <a:p>
                      <a:pPr algn="r"/>
                      <a:r>
                        <a:rPr sz="1200" b="1">
                          <a:solidFill>
                            <a:srgbClr val="FFFFFF"/>
                          </a:solidFill>
                          <a:latin typeface="Calibri"/>
                        </a:rPr>
                        <a:t>Visible cover</a:t>
                      </a:r>
                    </a:p>
                  </a:txBody>
                  <a:tcPr marL="73152" marR="73152" marT="0" marB="0" anchor="ctr">
                    <a:solidFill>
                      <a:srgbClr val="14512F"/>
                    </a:solidFill>
                  </a:tcPr>
                </a:tc>
              </a:tr>
              <a:tr h="292608">
                <a:tc>
                  <a:txBody>
                    <a:bodyPr/>
                    <a:lstStyle/>
                    <a:p>
                      <a:pPr algn="l"/>
                      <a:r>
                        <a:rPr sz="1200" b="0">
                          <a:solidFill>
                            <a:srgbClr val="111418"/>
                          </a:solidFill>
                          <a:latin typeface="Calibri"/>
                        </a:rPr>
                        <a:t>S1a open</a:t>
                      </a:r>
                    </a:p>
                  </a:txBody>
                  <a:tcPr marL="73152" marR="73152" marT="0" marB="0" anchor="ctr">
                    <a:solidFill>
                      <a:srgbClr val="FFFFFF"/>
                    </a:solidFill>
                  </a:tcPr>
                </a:tc>
                <a:tc>
                  <a:txBody>
                    <a:bodyPr/>
                    <a:lstStyle/>
                    <a:p>
                      <a:pPr algn="r"/>
                      <a:r>
                        <a:rPr sz="1200" b="0">
                          <a:solidFill>
                            <a:srgbClr val="111418"/>
                          </a:solidFill>
                          <a:latin typeface="Calibri"/>
                        </a:rPr>
                        <a:t>0.49 m</a:t>
                      </a:r>
                    </a:p>
                  </a:txBody>
                  <a:tcPr marL="73152" marR="73152" marT="0" marB="0" anchor="ctr">
                    <a:solidFill>
                      <a:srgbClr val="FFFFFF"/>
                    </a:solidFill>
                  </a:tcPr>
                </a:tc>
                <a:tc>
                  <a:txBody>
                    <a:bodyPr/>
                    <a:lstStyle/>
                    <a:p>
                      <a:pPr algn="r"/>
                      <a:r>
                        <a:rPr sz="1200" b="0">
                          <a:solidFill>
                            <a:srgbClr val="111418"/>
                          </a:solidFill>
                          <a:latin typeface="Calibri"/>
                        </a:rPr>
                        <a:t>71.2</a:t>
                      </a:r>
                    </a:p>
                  </a:txBody>
                  <a:tcPr marL="73152" marR="73152" marT="0" marB="0" anchor="ctr">
                    <a:solidFill>
                      <a:srgbClr val="FFFFFF"/>
                    </a:solidFill>
                  </a:tcPr>
                </a:tc>
                <a:tc>
                  <a:txBody>
                    <a:bodyPr/>
                    <a:lstStyle/>
                    <a:p>
                      <a:pPr algn="r"/>
                      <a:r>
                        <a:rPr sz="1200" b="0">
                          <a:solidFill>
                            <a:srgbClr val="111418"/>
                          </a:solidFill>
                          <a:latin typeface="Calibri"/>
                        </a:rPr>
                        <a:t>17.0%</a:t>
                      </a:r>
                    </a:p>
                  </a:txBody>
                  <a:tcPr marL="73152" marR="73152" marT="0" marB="0" anchor="ctr">
                    <a:solidFill>
                      <a:srgbClr val="FFFFFF"/>
                    </a:solidFill>
                  </a:tcPr>
                </a:tc>
                <a:tc>
                  <a:txBody>
                    <a:bodyPr/>
                    <a:lstStyle/>
                    <a:p>
                      <a:pPr algn="r"/>
                      <a:r>
                        <a:rPr sz="1200" b="0">
                          <a:solidFill>
                            <a:srgbClr val="111418"/>
                          </a:solidFill>
                          <a:latin typeface="Calibri"/>
                        </a:rPr>
                        <a:t>consistent</a:t>
                      </a:r>
                    </a:p>
                  </a:txBody>
                  <a:tcPr marL="73152" marR="73152" marT="0" marB="0" anchor="ctr">
                    <a:solidFill>
                      <a:srgbClr val="FFFFFF"/>
                    </a:solidFill>
                  </a:tcPr>
                </a:tc>
              </a:tr>
              <a:tr h="292608">
                <a:tc>
                  <a:txBody>
                    <a:bodyPr/>
                    <a:lstStyle/>
                    <a:p>
                      <a:pPr algn="l"/>
                      <a:r>
                        <a:rPr sz="1200" b="0">
                          <a:solidFill>
                            <a:srgbClr val="111418"/>
                          </a:solidFill>
                          <a:latin typeface="Calibri"/>
                        </a:rPr>
                        <a:t>S1b dense</a:t>
                      </a:r>
                    </a:p>
                  </a:txBody>
                  <a:tcPr marL="73152" marR="73152" marT="0" marB="0" anchor="ctr">
                    <a:solidFill>
                      <a:srgbClr val="FFFFFF"/>
                    </a:solidFill>
                  </a:tcPr>
                </a:tc>
                <a:tc>
                  <a:txBody>
                    <a:bodyPr/>
                    <a:lstStyle/>
                    <a:p>
                      <a:pPr algn="r"/>
                      <a:r>
                        <a:rPr sz="1200" b="0">
                          <a:solidFill>
                            <a:srgbClr val="111418"/>
                          </a:solidFill>
                          <a:latin typeface="Calibri"/>
                        </a:rPr>
                        <a:t>0.49 m</a:t>
                      </a:r>
                    </a:p>
                  </a:txBody>
                  <a:tcPr marL="73152" marR="73152" marT="0" marB="0" anchor="ctr">
                    <a:solidFill>
                      <a:srgbClr val="FFFFFF"/>
                    </a:solidFill>
                  </a:tcPr>
                </a:tc>
                <a:tc>
                  <a:txBody>
                    <a:bodyPr/>
                    <a:lstStyle/>
                    <a:p>
                      <a:pPr algn="r"/>
                      <a:r>
                        <a:rPr sz="1200" b="0">
                          <a:solidFill>
                            <a:srgbClr val="111418"/>
                          </a:solidFill>
                          <a:latin typeface="Calibri"/>
                        </a:rPr>
                        <a:t>72.2</a:t>
                      </a:r>
                    </a:p>
                  </a:txBody>
                  <a:tcPr marL="73152" marR="73152" marT="0" marB="0" anchor="ctr">
                    <a:solidFill>
                      <a:srgbClr val="FFFFFF"/>
                    </a:solidFill>
                  </a:tcPr>
                </a:tc>
                <a:tc>
                  <a:txBody>
                    <a:bodyPr/>
                    <a:lstStyle/>
                    <a:p>
                      <a:pPr algn="r"/>
                      <a:r>
                        <a:rPr sz="1200" b="0">
                          <a:solidFill>
                            <a:srgbClr val="111418"/>
                          </a:solidFill>
                          <a:latin typeface="Calibri"/>
                        </a:rPr>
                        <a:t>15.1%</a:t>
                      </a:r>
                    </a:p>
                  </a:txBody>
                  <a:tcPr marL="73152" marR="73152" marT="0" marB="0" anchor="ctr">
                    <a:solidFill>
                      <a:srgbClr val="FFFFFF"/>
                    </a:solidFill>
                  </a:tcPr>
                </a:tc>
                <a:tc>
                  <a:txBody>
                    <a:bodyPr/>
                    <a:lstStyle/>
                    <a:p>
                      <a:pPr algn="r"/>
                      <a:r>
                        <a:rPr sz="1200" b="0">
                          <a:solidFill>
                            <a:srgbClr val="111418"/>
                          </a:solidFill>
                          <a:latin typeface="Calibri"/>
                        </a:rPr>
                        <a:t>~70–90%</a:t>
                      </a:r>
                    </a:p>
                  </a:txBody>
                  <a:tcPr marL="73152" marR="73152" marT="0" marB="0" anchor="ctr">
                    <a:solidFill>
                      <a:srgbClr val="FFFFFF"/>
                    </a:solidFill>
                  </a:tcPr>
                </a:tc>
              </a:tr>
              <a:tr h="292608">
                <a:tc>
                  <a:txBody>
                    <a:bodyPr/>
                    <a:lstStyle/>
                    <a:p>
                      <a:pPr algn="l"/>
                      <a:r>
                        <a:rPr sz="1200" b="1">
                          <a:solidFill>
                            <a:srgbClr val="111418"/>
                          </a:solidFill>
                          <a:latin typeface="Calibri"/>
                        </a:rPr>
                        <a:t>S2 closed</a:t>
                      </a:r>
                    </a:p>
                  </a:txBody>
                  <a:tcPr marL="73152" marR="73152" marT="0" marB="0" anchor="ctr">
                    <a:solidFill>
                      <a:srgbClr val="EEF4F0"/>
                    </a:solidFill>
                  </a:tcPr>
                </a:tc>
                <a:tc>
                  <a:txBody>
                    <a:bodyPr/>
                    <a:lstStyle/>
                    <a:p>
                      <a:pPr algn="r"/>
                      <a:r>
                        <a:rPr sz="1200" b="1">
                          <a:solidFill>
                            <a:srgbClr val="111418"/>
                          </a:solidFill>
                          <a:latin typeface="Calibri"/>
                        </a:rPr>
                        <a:t>0.10 m</a:t>
                      </a:r>
                    </a:p>
                  </a:txBody>
                  <a:tcPr marL="73152" marR="73152" marT="0" marB="0" anchor="ctr">
                    <a:solidFill>
                      <a:srgbClr val="EEF4F0"/>
                    </a:solidFill>
                  </a:tcPr>
                </a:tc>
                <a:tc>
                  <a:txBody>
                    <a:bodyPr/>
                    <a:lstStyle/>
                    <a:p>
                      <a:pPr algn="r"/>
                      <a:r>
                        <a:rPr sz="1200" b="1">
                          <a:solidFill>
                            <a:srgbClr val="111418"/>
                          </a:solidFill>
                          <a:latin typeface="Calibri"/>
                        </a:rPr>
                        <a:t>37.7</a:t>
                      </a:r>
                    </a:p>
                  </a:txBody>
                  <a:tcPr marL="73152" marR="73152" marT="0" marB="0" anchor="ctr">
                    <a:solidFill>
                      <a:srgbClr val="EEF4F0"/>
                    </a:solidFill>
                  </a:tcPr>
                </a:tc>
                <a:tc>
                  <a:txBody>
                    <a:bodyPr/>
                    <a:lstStyle/>
                    <a:p>
                      <a:pPr algn="r"/>
                      <a:r>
                        <a:rPr sz="1200" b="1">
                          <a:solidFill>
                            <a:srgbClr val="111418"/>
                          </a:solidFill>
                          <a:latin typeface="Calibri"/>
                        </a:rPr>
                        <a:t>21.0%</a:t>
                      </a:r>
                    </a:p>
                  </a:txBody>
                  <a:tcPr marL="73152" marR="73152" marT="0" marB="0" anchor="ctr">
                    <a:solidFill>
                      <a:srgbClr val="EEF4F0"/>
                    </a:solidFill>
                  </a:tcPr>
                </a:tc>
                <a:tc>
                  <a:txBody>
                    <a:bodyPr/>
                    <a:lstStyle/>
                    <a:p>
                      <a:pPr algn="r"/>
                      <a:r>
                        <a:rPr sz="1200" b="1">
                          <a:solidFill>
                            <a:srgbClr val="111418"/>
                          </a:solidFill>
                          <a:latin typeface="Calibri"/>
                        </a:rPr>
                        <a:t>~95–100%</a:t>
                      </a:r>
                    </a:p>
                  </a:txBody>
                  <a:tcPr marL="73152" marR="73152" marT="0" marB="0" anchor="ctr">
                    <a:solidFill>
                      <a:srgbClr val="EEF4F0"/>
                    </a:solidFill>
                  </a:tcPr>
                </a:tc>
              </a:tr>
            </a:tbl>
          </a:graphicData>
        </a:graphic>
      </p:graphicFrame>
      <p:sp>
        <p:nvSpPr>
          <p:cNvPr id="9" name="TextBox 8"/>
          <p:cNvSpPr txBox="1"/>
          <p:nvPr/>
        </p:nvSpPr>
        <p:spPr>
          <a:xfrm>
            <a:off x="4480560" y="3200400"/>
            <a:ext cx="7040880" cy="2834640"/>
          </a:xfrm>
          <a:prstGeom prst="rect">
            <a:avLst/>
          </a:prstGeom>
          <a:noFill/>
        </p:spPr>
        <p:txBody>
          <a:bodyPr wrap="square" anchor="t" lIns="0" rIns="0" tIns="0" bIns="0">
            <a:spAutoFit/>
          </a:bodyPr>
          <a:lstStyle/>
          <a:p>
            <a:pPr>
              <a:lnSpc>
                <a:spcPct val="114000"/>
              </a:lnSpc>
              <a:spcAft>
                <a:spcPts val="1100"/>
              </a:spcAft>
            </a:pPr>
            <a:r>
              <a:rPr b="1" sz="1400">
                <a:solidFill>
                  <a:srgbClr val="111418"/>
                </a:solidFill>
                <a:latin typeface="Calibri"/>
              </a:rPr>
              <a:t>The finest scene performed worst. </a:t>
            </a:r>
            <a:r>
              <a:rPr sz="1400">
                <a:solidFill>
                  <a:srgbClr val="3B4250"/>
                </a:solidFill>
                <a:latin typeface="Calibri"/>
              </a:rPr>
              <a:t>At exactly the training resolution it recovers roughly one crown in five.</a:t>
            </a:r>
          </a:p>
          <a:p>
            <a:pPr>
              <a:lnSpc>
                <a:spcPct val="114000"/>
              </a:lnSpc>
              <a:spcAft>
                <a:spcPts val="1100"/>
              </a:spcAft>
            </a:pPr>
            <a:r>
              <a:rPr b="1" sz="1400">
                <a:solidFill>
                  <a:srgbClr val="111418"/>
                </a:solidFill>
                <a:latin typeface="Calibri"/>
              </a:rPr>
              <a:t>Counts saturate. </a:t>
            </a:r>
            <a:r>
              <a:rPr sz="1400">
                <a:solidFill>
                  <a:srgbClr val="3B4250"/>
                </a:solidFill>
                <a:latin typeface="Calibri"/>
              </a:rPr>
              <a:t>71.2 vs 72.2 trees/ha across two visibly different stand densities — the detector stops separating crowns once they interlock.</a:t>
            </a:r>
          </a:p>
          <a:p>
            <a:pPr>
              <a:lnSpc>
                <a:spcPct val="114000"/>
              </a:lnSpc>
              <a:spcAft>
                <a:spcPts val="1100"/>
              </a:spcAft>
            </a:pPr>
            <a:r>
              <a:rPr b="1" sz="1400">
                <a:solidFill>
                  <a:srgbClr val="111418"/>
                </a:solidFill>
                <a:latin typeface="Calibri"/>
              </a:rPr>
              <a:t>Two causes, confounded. </a:t>
            </a:r>
            <a:r>
              <a:rPr sz="1400">
                <a:solidFill>
                  <a:srgbClr val="3B4250"/>
                </a:solidFill>
                <a:latin typeface="Calibri"/>
              </a:rPr>
              <a:t>Closure removes the separable apexes the detector needs; and DeepForest's training data is largely open North American conifer, not closed European mixed forest.</a:t>
            </a:r>
          </a:p>
        </p:txBody>
      </p:sp>
      <p:sp>
        <p:nvSpPr>
          <p:cNvPr id="10" name="Rectangle 9"/>
          <p:cNvSpPr/>
          <p:nvPr/>
        </p:nvSpPr>
        <p:spPr>
          <a:xfrm>
            <a:off x="4480560" y="5394960"/>
            <a:ext cx="7040880" cy="777240"/>
          </a:xfrm>
          <a:prstGeom prst="rect">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5394960"/>
            <a:ext cx="41148" cy="777240"/>
          </a:xfrm>
          <a:prstGeom prst="rect">
            <a:avLst/>
          </a:prstGeom>
          <a:solidFill>
            <a:srgbClr val="1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4" y="5541264"/>
            <a:ext cx="6583680" cy="502920"/>
          </a:xfrm>
          <a:prstGeom prst="rect">
            <a:avLst/>
          </a:prstGeom>
          <a:noFill/>
        </p:spPr>
        <p:txBody>
          <a:bodyPr wrap="square" anchor="t" lIns="0" rIns="0" tIns="0" bIns="0">
            <a:spAutoFit/>
          </a:bodyPr>
          <a:lstStyle/>
          <a:p>
            <a:pPr algn="l">
              <a:lnSpc>
                <a:spcPct val="112000"/>
              </a:lnSpc>
              <a:spcAft>
                <a:spcPts val="0"/>
              </a:spcAft>
            </a:pPr>
            <a:r>
              <a:rPr sz="1400" b="0" i="0">
                <a:solidFill>
                  <a:srgbClr val="111418"/>
                </a:solidFill>
                <a:latin typeface="Calibri"/>
              </a:rPr>
              <a:t>This inverts the usual procurement instinct. Buying finer imagery does not fix individual-tree analysis under closed canopy — assess stand structure before commissioning imagery.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FINDING 3 OF 3</a:t>
            </a:r>
          </a:p>
          <a:p>
            <a:pPr algn="l">
              <a:lnSpc>
                <a:spcPct val="95000"/>
              </a:lnSpc>
              <a:spcAft>
                <a:spcPts val="0"/>
              </a:spcAft>
            </a:pPr>
            <a:r>
              <a:rPr sz="2700" b="1" i="0">
                <a:solidFill>
                  <a:srgbClr val="111418"/>
                </a:solidFill>
                <a:latin typeface="Calibri"/>
              </a:rPr>
              <a:t>Summed crown boxes are not a canopy-cover measurement</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8</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sp>
        <p:nvSpPr>
          <p:cNvPr id="6" name="TextBox 5"/>
          <p:cNvSpPr txBox="1"/>
          <p:nvPr/>
        </p:nvSpPr>
        <p:spPr>
          <a:xfrm>
            <a:off x="658368" y="1783080"/>
            <a:ext cx="5486400" cy="4251960"/>
          </a:xfrm>
          <a:prstGeom prst="rect">
            <a:avLst/>
          </a:prstGeom>
          <a:noFill/>
        </p:spPr>
        <p:txBody>
          <a:bodyPr wrap="square" anchor="t" lIns="0" rIns="0" tIns="0" bIns="0">
            <a:spAutoFit/>
          </a:bodyPr>
          <a:lstStyle/>
          <a:p>
            <a:pPr>
              <a:lnSpc>
                <a:spcPct val="114000"/>
              </a:lnSpc>
              <a:spcAft>
                <a:spcPts val="1100"/>
              </a:spcAft>
            </a:pPr>
            <a:r>
              <a:rPr b="1" sz="1500">
                <a:solidFill>
                  <a:srgbClr val="111418"/>
                </a:solidFill>
                <a:latin typeface="Calibri"/>
              </a:rPr>
              <a:t>The failure. </a:t>
            </a:r>
            <a:r>
              <a:rPr sz="1500">
                <a:solidFill>
                  <a:srgbClr val="3B4250"/>
                </a:solidFill>
                <a:latin typeface="Calibri"/>
              </a:rPr>
              <a:t>Detection fires on separable crown apexes, so the union of its boxes cannot tile interlocking canopy. On the closed-canopy scene that reports 21% where cover is visibly near-complete — wrong by a factor of four.</a:t>
            </a:r>
          </a:p>
          <a:p>
            <a:pPr>
              <a:lnSpc>
                <a:spcPct val="114000"/>
              </a:lnSpc>
              <a:spcAft>
                <a:spcPts val="1100"/>
              </a:spcAft>
            </a:pPr>
            <a:r>
              <a:rPr b="1" sz="1500">
                <a:solidFill>
                  <a:srgbClr val="111418"/>
                </a:solidFill>
                <a:latin typeface="Calibri"/>
              </a:rPr>
              <a:t>The response. </a:t>
            </a:r>
            <a:r>
              <a:rPr sz="1500">
                <a:solidFill>
                  <a:srgbClr val="3B4250"/>
                </a:solidFill>
                <a:latin typeface="Calibri"/>
              </a:rPr>
              <a:t>Report cover as two independent estimates and refuse to average them.</a:t>
            </a:r>
          </a:p>
        </p:txBody>
      </p:sp>
      <p:graphicFrame>
        <p:nvGraphicFramePr>
          <p:cNvPr id="7" name="Table 6"/>
          <p:cNvGraphicFramePr>
            <a:graphicFrameLocks noGrp="1"/>
          </p:cNvGraphicFramePr>
          <p:nvPr/>
        </p:nvGraphicFramePr>
        <p:xfrm>
          <a:off x="658368" y="3611880"/>
          <a:ext cx="5486398" cy="1170432"/>
        </p:xfrm>
        <a:graphic>
          <a:graphicData uri="http://schemas.openxmlformats.org/drawingml/2006/table">
            <a:tbl>
              <a:tblPr firstRow="1" bandRow="1">
                <a:tableStyleId>{5C22544A-7EE6-4342-B048-85BDC9FD1C3A}</a:tableStyleId>
              </a:tblPr>
              <a:tblGrid>
                <a:gridCol w="1254034"/>
                <a:gridCol w="1567542"/>
                <a:gridCol w="1802674"/>
                <a:gridCol w="862148"/>
              </a:tblGrid>
              <a:tr h="292608">
                <a:tc>
                  <a:txBody>
                    <a:bodyPr/>
                    <a:lstStyle/>
                    <a:p>
                      <a:pPr algn="l"/>
                      <a:r>
                        <a:rPr sz="1200" b="1">
                          <a:solidFill>
                            <a:srgbClr val="FFFFFF"/>
                          </a:solidFill>
                          <a:latin typeface="Calibri"/>
                        </a:rPr>
                        <a:t>Scene</a:t>
                      </a:r>
                    </a:p>
                  </a:txBody>
                  <a:tcPr marL="73152" marR="73152" marT="0" marB="0" anchor="ctr">
                    <a:solidFill>
                      <a:srgbClr val="14512F"/>
                    </a:solidFill>
                  </a:tcPr>
                </a:tc>
                <a:tc>
                  <a:txBody>
                    <a:bodyPr/>
                    <a:lstStyle/>
                    <a:p>
                      <a:pPr algn="r"/>
                      <a:r>
                        <a:rPr sz="1200" b="1">
                          <a:solidFill>
                            <a:srgbClr val="FFFFFF"/>
                          </a:solidFill>
                          <a:latin typeface="Calibri"/>
                        </a:rPr>
                        <a:t>Lower: crown union</a:t>
                      </a:r>
                    </a:p>
                  </a:txBody>
                  <a:tcPr marL="73152" marR="73152" marT="0" marB="0" anchor="ctr">
                    <a:solidFill>
                      <a:srgbClr val="14512F"/>
                    </a:solidFill>
                  </a:tcPr>
                </a:tc>
                <a:tc>
                  <a:txBody>
                    <a:bodyPr/>
                    <a:lstStyle/>
                    <a:p>
                      <a:pPr algn="r"/>
                      <a:r>
                        <a:rPr sz="1200" b="1">
                          <a:solidFill>
                            <a:srgbClr val="FFFFFF"/>
                          </a:solidFill>
                          <a:latin typeface="Calibri"/>
                        </a:rPr>
                        <a:t>Upper: green vegetation</a:t>
                      </a:r>
                    </a:p>
                  </a:txBody>
                  <a:tcPr marL="73152" marR="73152" marT="0" marB="0" anchor="ctr">
                    <a:solidFill>
                      <a:srgbClr val="14512F"/>
                    </a:solidFill>
                  </a:tcPr>
                </a:tc>
                <a:tc>
                  <a:txBody>
                    <a:bodyPr/>
                    <a:lstStyle/>
                    <a:p>
                      <a:pPr algn="r"/>
                      <a:r>
                        <a:rPr sz="1200" b="1">
                          <a:solidFill>
                            <a:srgbClr val="FFFFFF"/>
                          </a:solidFill>
                          <a:latin typeface="Calibri"/>
                        </a:rPr>
                        <a:t>Width</a:t>
                      </a:r>
                    </a:p>
                  </a:txBody>
                  <a:tcPr marL="73152" marR="73152" marT="0" marB="0" anchor="ctr">
                    <a:solidFill>
                      <a:srgbClr val="14512F"/>
                    </a:solidFill>
                  </a:tcPr>
                </a:tc>
              </a:tr>
              <a:tr h="292608">
                <a:tc>
                  <a:txBody>
                    <a:bodyPr/>
                    <a:lstStyle/>
                    <a:p>
                      <a:pPr algn="l"/>
                      <a:r>
                        <a:rPr sz="1200" b="0">
                          <a:solidFill>
                            <a:srgbClr val="111418"/>
                          </a:solidFill>
                          <a:latin typeface="Calibri"/>
                        </a:rPr>
                        <a:t>S1a open</a:t>
                      </a:r>
                    </a:p>
                  </a:txBody>
                  <a:tcPr marL="73152" marR="73152" marT="0" marB="0" anchor="ctr">
                    <a:solidFill>
                      <a:srgbClr val="FFFFFF"/>
                    </a:solidFill>
                  </a:tcPr>
                </a:tc>
                <a:tc>
                  <a:txBody>
                    <a:bodyPr/>
                    <a:lstStyle/>
                    <a:p>
                      <a:pPr algn="r"/>
                      <a:r>
                        <a:rPr sz="1200" b="0">
                          <a:solidFill>
                            <a:srgbClr val="111418"/>
                          </a:solidFill>
                          <a:latin typeface="Calibri"/>
                        </a:rPr>
                        <a:t>17.0%</a:t>
                      </a:r>
                    </a:p>
                  </a:txBody>
                  <a:tcPr marL="73152" marR="73152" marT="0" marB="0" anchor="ctr">
                    <a:solidFill>
                      <a:srgbClr val="FFFFFF"/>
                    </a:solidFill>
                  </a:tcPr>
                </a:tc>
                <a:tc>
                  <a:txBody>
                    <a:bodyPr/>
                    <a:lstStyle/>
                    <a:p>
                      <a:pPr algn="r"/>
                      <a:r>
                        <a:rPr sz="1200" b="0">
                          <a:solidFill>
                            <a:srgbClr val="111418"/>
                          </a:solidFill>
                          <a:latin typeface="Calibri"/>
                        </a:rPr>
                        <a:t>92.6%</a:t>
                      </a:r>
                    </a:p>
                  </a:txBody>
                  <a:tcPr marL="73152" marR="73152" marT="0" marB="0" anchor="ctr">
                    <a:solidFill>
                      <a:srgbClr val="FFFFFF"/>
                    </a:solidFill>
                  </a:tcPr>
                </a:tc>
                <a:tc>
                  <a:txBody>
                    <a:bodyPr/>
                    <a:lstStyle/>
                    <a:p>
                      <a:pPr algn="r"/>
                      <a:r>
                        <a:rPr sz="1200" b="0">
                          <a:solidFill>
                            <a:srgbClr val="111418"/>
                          </a:solidFill>
                          <a:latin typeface="Calibri"/>
                        </a:rPr>
                        <a:t>76 pts</a:t>
                      </a:r>
                    </a:p>
                  </a:txBody>
                  <a:tcPr marL="73152" marR="73152" marT="0" marB="0" anchor="ctr">
                    <a:solidFill>
                      <a:srgbClr val="FFFFFF"/>
                    </a:solidFill>
                  </a:tcPr>
                </a:tc>
              </a:tr>
              <a:tr h="292608">
                <a:tc>
                  <a:txBody>
                    <a:bodyPr/>
                    <a:lstStyle/>
                    <a:p>
                      <a:pPr algn="l"/>
                      <a:r>
                        <a:rPr sz="1200" b="0">
                          <a:solidFill>
                            <a:srgbClr val="111418"/>
                          </a:solidFill>
                          <a:latin typeface="Calibri"/>
                        </a:rPr>
                        <a:t>S1b dense</a:t>
                      </a:r>
                    </a:p>
                  </a:txBody>
                  <a:tcPr marL="73152" marR="73152" marT="0" marB="0" anchor="ctr">
                    <a:solidFill>
                      <a:srgbClr val="FFFFFF"/>
                    </a:solidFill>
                  </a:tcPr>
                </a:tc>
                <a:tc>
                  <a:txBody>
                    <a:bodyPr/>
                    <a:lstStyle/>
                    <a:p>
                      <a:pPr algn="r"/>
                      <a:r>
                        <a:rPr sz="1200" b="0">
                          <a:solidFill>
                            <a:srgbClr val="111418"/>
                          </a:solidFill>
                          <a:latin typeface="Calibri"/>
                        </a:rPr>
                        <a:t>15.1%</a:t>
                      </a:r>
                    </a:p>
                  </a:txBody>
                  <a:tcPr marL="73152" marR="73152" marT="0" marB="0" anchor="ctr">
                    <a:solidFill>
                      <a:srgbClr val="FFFFFF"/>
                    </a:solidFill>
                  </a:tcPr>
                </a:tc>
                <a:tc>
                  <a:txBody>
                    <a:bodyPr/>
                    <a:lstStyle/>
                    <a:p>
                      <a:pPr algn="r"/>
                      <a:r>
                        <a:rPr sz="1200" b="0">
                          <a:solidFill>
                            <a:srgbClr val="111418"/>
                          </a:solidFill>
                          <a:latin typeface="Calibri"/>
                        </a:rPr>
                        <a:t>96.3%</a:t>
                      </a:r>
                    </a:p>
                  </a:txBody>
                  <a:tcPr marL="73152" marR="73152" marT="0" marB="0" anchor="ctr">
                    <a:solidFill>
                      <a:srgbClr val="FFFFFF"/>
                    </a:solidFill>
                  </a:tcPr>
                </a:tc>
                <a:tc>
                  <a:txBody>
                    <a:bodyPr/>
                    <a:lstStyle/>
                    <a:p>
                      <a:pPr algn="r"/>
                      <a:r>
                        <a:rPr sz="1200" b="0">
                          <a:solidFill>
                            <a:srgbClr val="111418"/>
                          </a:solidFill>
                          <a:latin typeface="Calibri"/>
                        </a:rPr>
                        <a:t>81 pts</a:t>
                      </a:r>
                    </a:p>
                  </a:txBody>
                  <a:tcPr marL="73152" marR="73152" marT="0" marB="0" anchor="ctr">
                    <a:solidFill>
                      <a:srgbClr val="FFFFFF"/>
                    </a:solidFill>
                  </a:tcPr>
                </a:tc>
              </a:tr>
              <a:tr h="292608">
                <a:tc>
                  <a:txBody>
                    <a:bodyPr/>
                    <a:lstStyle/>
                    <a:p>
                      <a:pPr algn="l"/>
                      <a:r>
                        <a:rPr sz="1200" b="0">
                          <a:solidFill>
                            <a:srgbClr val="111418"/>
                          </a:solidFill>
                          <a:latin typeface="Calibri"/>
                        </a:rPr>
                        <a:t>S2 closed</a:t>
                      </a:r>
                    </a:p>
                  </a:txBody>
                  <a:tcPr marL="73152" marR="73152" marT="0" marB="0" anchor="ctr">
                    <a:solidFill>
                      <a:srgbClr val="FFFFFF"/>
                    </a:solidFill>
                  </a:tcPr>
                </a:tc>
                <a:tc>
                  <a:txBody>
                    <a:bodyPr/>
                    <a:lstStyle/>
                    <a:p>
                      <a:pPr algn="r"/>
                      <a:r>
                        <a:rPr sz="1200" b="0">
                          <a:solidFill>
                            <a:srgbClr val="111418"/>
                          </a:solidFill>
                          <a:latin typeface="Calibri"/>
                        </a:rPr>
                        <a:t>21.0%</a:t>
                      </a:r>
                    </a:p>
                  </a:txBody>
                  <a:tcPr marL="73152" marR="73152" marT="0" marB="0" anchor="ctr">
                    <a:solidFill>
                      <a:srgbClr val="FFFFFF"/>
                    </a:solidFill>
                  </a:tcPr>
                </a:tc>
                <a:tc>
                  <a:txBody>
                    <a:bodyPr/>
                    <a:lstStyle/>
                    <a:p>
                      <a:pPr algn="r"/>
                      <a:r>
                        <a:rPr sz="1200" b="0">
                          <a:solidFill>
                            <a:srgbClr val="111418"/>
                          </a:solidFill>
                          <a:latin typeface="Calibri"/>
                        </a:rPr>
                        <a:t>93.9%</a:t>
                      </a:r>
                    </a:p>
                  </a:txBody>
                  <a:tcPr marL="73152" marR="73152" marT="0" marB="0" anchor="ctr">
                    <a:solidFill>
                      <a:srgbClr val="FFFFFF"/>
                    </a:solidFill>
                  </a:tcPr>
                </a:tc>
                <a:tc>
                  <a:txBody>
                    <a:bodyPr/>
                    <a:lstStyle/>
                    <a:p>
                      <a:pPr algn="r"/>
                      <a:r>
                        <a:rPr sz="1200" b="0">
                          <a:solidFill>
                            <a:srgbClr val="111418"/>
                          </a:solidFill>
                          <a:latin typeface="Calibri"/>
                        </a:rPr>
                        <a:t>73 pts</a:t>
                      </a:r>
                    </a:p>
                  </a:txBody>
                  <a:tcPr marL="73152" marR="73152" marT="0" marB="0" anchor="ctr">
                    <a:solidFill>
                      <a:srgbClr val="FFFFFF"/>
                    </a:solidFill>
                  </a:tcPr>
                </a:tc>
              </a:tr>
            </a:tbl>
          </a:graphicData>
        </a:graphic>
      </p:graphicFrame>
      <p:sp>
        <p:nvSpPr>
          <p:cNvPr id="8" name="TextBox 7"/>
          <p:cNvSpPr txBox="1"/>
          <p:nvPr/>
        </p:nvSpPr>
        <p:spPr>
          <a:xfrm>
            <a:off x="6537960" y="1783080"/>
            <a:ext cx="4983480" cy="2377440"/>
          </a:xfrm>
          <a:prstGeom prst="rect">
            <a:avLst/>
          </a:prstGeom>
          <a:noFill/>
        </p:spPr>
        <p:txBody>
          <a:bodyPr wrap="square" anchor="t" lIns="0" rIns="0" tIns="0" bIns="0">
            <a:spAutoFit/>
          </a:bodyPr>
          <a:lstStyle/>
          <a:p>
            <a:pPr algn="l">
              <a:lnSpc>
                <a:spcPct val="100000"/>
              </a:lnSpc>
              <a:spcAft>
                <a:spcPts val="800"/>
              </a:spcAft>
            </a:pPr>
            <a:r>
              <a:rPr sz="1100" b="1" i="0">
                <a:solidFill>
                  <a:srgbClr val="1F6B47"/>
                </a:solidFill>
                <a:latin typeface="Calibri"/>
              </a:rPr>
              <a:t>WHY EACH BOUND IS WRONG</a:t>
            </a:r>
          </a:p>
          <a:p>
            <a:pPr algn="l">
              <a:lnSpc>
                <a:spcPct val="100000"/>
              </a:lnSpc>
              <a:spcAft>
                <a:spcPts val="200"/>
              </a:spcAft>
            </a:pPr>
            <a:r>
              <a:rPr sz="1400" b="1" i="0">
                <a:solidFill>
                  <a:srgbClr val="111418"/>
                </a:solidFill>
                <a:latin typeface="Calibri"/>
              </a:rPr>
              <a:t>Lower bound — union of detected crowns.</a:t>
            </a:r>
          </a:p>
          <a:p>
            <a:pPr algn="l">
              <a:lnSpc>
                <a:spcPct val="110000"/>
              </a:lnSpc>
              <a:spcAft>
                <a:spcPts val="1000"/>
              </a:spcAft>
            </a:pPr>
            <a:r>
              <a:rPr sz="1300" b="0" i="0">
                <a:solidFill>
                  <a:srgbClr val="3B4250"/>
                </a:solidFill>
                <a:latin typeface="Calibri"/>
              </a:rPr>
              <a:t>Too low: every crown the detector missed contributes nothing. Under closed canopy, far too low.</a:t>
            </a:r>
          </a:p>
          <a:p>
            <a:pPr algn="l">
              <a:lnSpc>
                <a:spcPct val="100000"/>
              </a:lnSpc>
              <a:spcAft>
                <a:spcPts val="200"/>
              </a:spcAft>
            </a:pPr>
            <a:r>
              <a:rPr sz="1400" b="1" i="0">
                <a:solidFill>
                  <a:srgbClr val="111418"/>
                </a:solidFill>
                <a:latin typeface="Calibri"/>
              </a:rPr>
              <a:t>Upper bound — pixels where 2G − R − B &gt; 0.</a:t>
            </a:r>
          </a:p>
          <a:p>
            <a:pPr algn="l">
              <a:lnSpc>
                <a:spcPct val="110000"/>
              </a:lnSpc>
              <a:spcAft>
                <a:spcPts val="0"/>
              </a:spcAft>
            </a:pPr>
            <a:r>
              <a:rPr sz="1300" b="0" i="0">
                <a:solidFill>
                  <a:srgbClr val="3B4250"/>
                </a:solidFill>
                <a:latin typeface="Calibri"/>
              </a:rPr>
              <a:t>Too high: grass, shrubs and crops are green too. Deeply shadowed canopy can drop below the threshold and be missed.</a:t>
            </a:r>
          </a:p>
        </p:txBody>
      </p:sp>
      <p:sp>
        <p:nvSpPr>
          <p:cNvPr id="9" name="Rectangle 8"/>
          <p:cNvSpPr/>
          <p:nvPr/>
        </p:nvSpPr>
        <p:spPr>
          <a:xfrm>
            <a:off x="6537960" y="4297680"/>
            <a:ext cx="4983480" cy="1417320"/>
          </a:xfrm>
          <a:prstGeom prst="rect">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37960" y="4297680"/>
            <a:ext cx="41148" cy="1417320"/>
          </a:xfrm>
          <a:prstGeom prst="rect">
            <a:avLst/>
          </a:prstGeom>
          <a:solidFill>
            <a:srgbClr val="9A62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75704" y="4443984"/>
            <a:ext cx="4526280" cy="1143000"/>
          </a:xfrm>
          <a:prstGeom prst="rect">
            <a:avLst/>
          </a:prstGeom>
          <a:noFill/>
        </p:spPr>
        <p:txBody>
          <a:bodyPr wrap="square" anchor="t" lIns="0" rIns="0" tIns="0" bIns="0">
            <a:spAutoFit/>
          </a:bodyPr>
          <a:lstStyle/>
          <a:p>
            <a:pPr algn="l">
              <a:lnSpc>
                <a:spcPct val="112000"/>
              </a:lnSpc>
              <a:spcAft>
                <a:spcPts val="0"/>
              </a:spcAft>
            </a:pPr>
            <a:r>
              <a:rPr sz="1400" b="0" i="0">
                <a:solidFill>
                  <a:srgbClr val="111418"/>
                </a:solidFill>
                <a:latin typeface="Calibri"/>
              </a:rPr>
              <a:t>Above 25 points apart, the app states the range and refuses a single figure — the midpoint of two estimates that disagree this strongly means nothing. Honest conclusion: this pipeline counts relatively separable trees and cannot measure canopy cover to a useful precision.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VALIDATION</a:t>
            </a:r>
          </a:p>
          <a:p>
            <a:pPr algn="l">
              <a:lnSpc>
                <a:spcPct val="95000"/>
              </a:lnSpc>
              <a:spcAft>
                <a:spcPts val="0"/>
              </a:spcAft>
            </a:pPr>
            <a:r>
              <a:rPr sz="2700" b="1" i="0">
                <a:solidFill>
                  <a:srgbClr val="111418"/>
                </a:solidFill>
                <a:latin typeface="Calibri"/>
              </a:rPr>
              <a:t>Counted by eye, before any detections were shown</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9</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graphicFrame>
        <p:nvGraphicFramePr>
          <p:cNvPr id="6" name="Table 5"/>
          <p:cNvGraphicFramePr>
            <a:graphicFrameLocks noGrp="1"/>
          </p:cNvGraphicFramePr>
          <p:nvPr/>
        </p:nvGraphicFramePr>
        <p:xfrm>
          <a:off x="658368" y="1783080"/>
          <a:ext cx="10874956" cy="1170432"/>
        </p:xfrm>
        <a:graphic>
          <a:graphicData uri="http://schemas.openxmlformats.org/drawingml/2006/table">
            <a:tbl>
              <a:tblPr firstRow="1" bandRow="1">
                <a:tableStyleId>{5C22544A-7EE6-4342-B048-85BDC9FD1C3A}</a:tableStyleId>
              </a:tblPr>
              <a:tblGrid>
                <a:gridCol w="1463936"/>
                <a:gridCol w="2300472"/>
                <a:gridCol w="1673070"/>
                <a:gridCol w="1882204"/>
                <a:gridCol w="1673070"/>
                <a:gridCol w="1882204"/>
              </a:tblGrid>
              <a:tr h="292608">
                <a:tc>
                  <a:txBody>
                    <a:bodyPr/>
                    <a:lstStyle/>
                    <a:p>
                      <a:pPr algn="l"/>
                      <a:r>
                        <a:rPr sz="1300" b="1">
                          <a:solidFill>
                            <a:srgbClr val="FFFFFF"/>
                          </a:solidFill>
                          <a:latin typeface="Calibri"/>
                        </a:rPr>
                        <a:t>Crop</a:t>
                      </a:r>
                    </a:p>
                  </a:txBody>
                  <a:tcPr marL="73152" marR="73152" marT="0" marB="0" anchor="ctr">
                    <a:solidFill>
                      <a:srgbClr val="14512F"/>
                    </a:solidFill>
                  </a:tcPr>
                </a:tc>
                <a:tc>
                  <a:txBody>
                    <a:bodyPr/>
                    <a:lstStyle/>
                    <a:p>
                      <a:pPr algn="r"/>
                      <a:r>
                        <a:rPr sz="1300" b="1">
                          <a:solidFill>
                            <a:srgbClr val="FFFFFF"/>
                          </a:solidFill>
                          <a:latin typeface="Calibri"/>
                        </a:rPr>
                        <a:t>Scene</a:t>
                      </a:r>
                    </a:p>
                  </a:txBody>
                  <a:tcPr marL="73152" marR="73152" marT="0" marB="0" anchor="ctr">
                    <a:solidFill>
                      <a:srgbClr val="14512F"/>
                    </a:solidFill>
                  </a:tcPr>
                </a:tc>
                <a:tc>
                  <a:txBody>
                    <a:bodyPr/>
                    <a:lstStyle/>
                    <a:p>
                      <a:pPr algn="r"/>
                      <a:r>
                        <a:rPr sz="1300" b="1">
                          <a:solidFill>
                            <a:srgbClr val="FFFFFF"/>
                          </a:solidFill>
                          <a:latin typeface="Calibri"/>
                        </a:rPr>
                        <a:t>Area</a:t>
                      </a:r>
                    </a:p>
                  </a:txBody>
                  <a:tcPr marL="73152" marR="73152" marT="0" marB="0" anchor="ctr">
                    <a:solidFill>
                      <a:srgbClr val="14512F"/>
                    </a:solidFill>
                  </a:tcPr>
                </a:tc>
                <a:tc>
                  <a:txBody>
                    <a:bodyPr/>
                    <a:lstStyle/>
                    <a:p>
                      <a:pPr algn="r"/>
                      <a:r>
                        <a:rPr sz="1300" b="1">
                          <a:solidFill>
                            <a:srgbClr val="FFFFFF"/>
                          </a:solidFill>
                          <a:latin typeface="Calibri"/>
                        </a:rPr>
                        <a:t>Reference</a:t>
                      </a:r>
                    </a:p>
                  </a:txBody>
                  <a:tcPr marL="73152" marR="73152" marT="0" marB="0" anchor="ctr">
                    <a:solidFill>
                      <a:srgbClr val="14512F"/>
                    </a:solidFill>
                  </a:tcPr>
                </a:tc>
                <a:tc>
                  <a:txBody>
                    <a:bodyPr/>
                    <a:lstStyle/>
                    <a:p>
                      <a:pPr algn="r"/>
                      <a:r>
                        <a:rPr sz="1300" b="1">
                          <a:solidFill>
                            <a:srgbClr val="FFFFFF"/>
                          </a:solidFill>
                          <a:latin typeface="Calibri"/>
                        </a:rPr>
                        <a:t>Detected</a:t>
                      </a:r>
                    </a:p>
                  </a:txBody>
                  <a:tcPr marL="73152" marR="73152" marT="0" marB="0" anchor="ctr">
                    <a:solidFill>
                      <a:srgbClr val="14512F"/>
                    </a:solidFill>
                  </a:tcPr>
                </a:tc>
                <a:tc>
                  <a:txBody>
                    <a:bodyPr/>
                    <a:lstStyle/>
                    <a:p>
                      <a:pPr algn="r"/>
                      <a:r>
                        <a:rPr sz="1300" b="1">
                          <a:solidFill>
                            <a:srgbClr val="FFFFFF"/>
                          </a:solidFill>
                          <a:latin typeface="Calibri"/>
                        </a:rPr>
                        <a:t>Difference</a:t>
                      </a:r>
                    </a:p>
                  </a:txBody>
                  <a:tcPr marL="73152" marR="73152" marT="0" marB="0" anchor="ctr">
                    <a:solidFill>
                      <a:srgbClr val="14512F"/>
                    </a:solidFill>
                  </a:tcPr>
                </a:tc>
              </a:tr>
              <a:tr h="292608">
                <a:tc>
                  <a:txBody>
                    <a:bodyPr/>
                    <a:lstStyle/>
                    <a:p>
                      <a:pPr algn="l"/>
                      <a:r>
                        <a:rPr sz="1300" b="0">
                          <a:solidFill>
                            <a:srgbClr val="111418"/>
                          </a:solidFill>
                          <a:latin typeface="Calibri"/>
                        </a:rPr>
                        <a:t>openA</a:t>
                      </a:r>
                    </a:p>
                  </a:txBody>
                  <a:tcPr marL="73152" marR="73152" marT="0" marB="0" anchor="ctr">
                    <a:solidFill>
                      <a:srgbClr val="FFFFFF"/>
                    </a:solidFill>
                  </a:tcPr>
                </a:tc>
                <a:tc>
                  <a:txBody>
                    <a:bodyPr/>
                    <a:lstStyle/>
                    <a:p>
                      <a:pPr algn="r"/>
                      <a:r>
                        <a:rPr sz="1300" b="0">
                          <a:solidFill>
                            <a:srgbClr val="111418"/>
                          </a:solidFill>
                          <a:latin typeface="Calibri"/>
                        </a:rPr>
                        <a:t>S1a, 3.05×</a:t>
                      </a:r>
                    </a:p>
                  </a:txBody>
                  <a:tcPr marL="73152" marR="73152" marT="0" marB="0" anchor="ctr">
                    <a:solidFill>
                      <a:srgbClr val="FFFFFF"/>
                    </a:solidFill>
                  </a:tcPr>
                </a:tc>
                <a:tc>
                  <a:txBody>
                    <a:bodyPr/>
                    <a:lstStyle/>
                    <a:p>
                      <a:pPr algn="r"/>
                      <a:r>
                        <a:rPr sz="1300" b="0">
                          <a:solidFill>
                            <a:srgbClr val="111418"/>
                          </a:solidFill>
                          <a:latin typeface="Calibri"/>
                        </a:rPr>
                        <a:t>0.610 ha</a:t>
                      </a:r>
                    </a:p>
                  </a:txBody>
                  <a:tcPr marL="73152" marR="73152" marT="0" marB="0" anchor="ctr">
                    <a:solidFill>
                      <a:srgbClr val="FFFFFF"/>
                    </a:solidFill>
                  </a:tcPr>
                </a:tc>
                <a:tc>
                  <a:txBody>
                    <a:bodyPr/>
                    <a:lstStyle/>
                    <a:p>
                      <a:pPr algn="r"/>
                      <a:r>
                        <a:rPr sz="1300" b="0">
                          <a:solidFill>
                            <a:srgbClr val="111418"/>
                          </a:solidFill>
                          <a:latin typeface="Calibri"/>
                        </a:rPr>
                        <a:t>48 ± 10</a:t>
                      </a:r>
                    </a:p>
                  </a:txBody>
                  <a:tcPr marL="73152" marR="73152" marT="0" marB="0" anchor="ctr">
                    <a:solidFill>
                      <a:srgbClr val="FFFFFF"/>
                    </a:solidFill>
                  </a:tcPr>
                </a:tc>
                <a:tc>
                  <a:txBody>
                    <a:bodyPr/>
                    <a:lstStyle/>
                    <a:p>
                      <a:pPr algn="r"/>
                      <a:r>
                        <a:rPr sz="1300" b="0">
                          <a:solidFill>
                            <a:srgbClr val="111418"/>
                          </a:solidFill>
                          <a:latin typeface="Calibri"/>
                        </a:rPr>
                        <a:t>57</a:t>
                      </a:r>
                    </a:p>
                  </a:txBody>
                  <a:tcPr marL="73152" marR="73152" marT="0" marB="0" anchor="ctr">
                    <a:solidFill>
                      <a:srgbClr val="FFFFFF"/>
                    </a:solidFill>
                  </a:tcPr>
                </a:tc>
                <a:tc>
                  <a:txBody>
                    <a:bodyPr/>
                    <a:lstStyle/>
                    <a:p>
                      <a:pPr algn="r"/>
                      <a:r>
                        <a:rPr sz="1300" b="0">
                          <a:solidFill>
                            <a:srgbClr val="111418"/>
                          </a:solidFill>
                          <a:latin typeface="Calibri"/>
                        </a:rPr>
                        <a:t>+19%</a:t>
                      </a:r>
                    </a:p>
                  </a:txBody>
                  <a:tcPr marL="73152" marR="73152" marT="0" marB="0" anchor="ctr">
                    <a:solidFill>
                      <a:srgbClr val="FFFFFF"/>
                    </a:solidFill>
                  </a:tcPr>
                </a:tc>
              </a:tr>
              <a:tr h="292608">
                <a:tc>
                  <a:txBody>
                    <a:bodyPr/>
                    <a:lstStyle/>
                    <a:p>
                      <a:pPr algn="l"/>
                      <a:r>
                        <a:rPr sz="1300" b="0">
                          <a:solidFill>
                            <a:srgbClr val="111418"/>
                          </a:solidFill>
                          <a:latin typeface="Calibri"/>
                        </a:rPr>
                        <a:t>openB</a:t>
                      </a:r>
                    </a:p>
                  </a:txBody>
                  <a:tcPr marL="73152" marR="73152" marT="0" marB="0" anchor="ctr">
                    <a:solidFill>
                      <a:srgbClr val="FFFFFF"/>
                    </a:solidFill>
                  </a:tcPr>
                </a:tc>
                <a:tc>
                  <a:txBody>
                    <a:bodyPr/>
                    <a:lstStyle/>
                    <a:p>
                      <a:pPr algn="r"/>
                      <a:r>
                        <a:rPr sz="1300" b="0">
                          <a:solidFill>
                            <a:srgbClr val="111418"/>
                          </a:solidFill>
                          <a:latin typeface="Calibri"/>
                        </a:rPr>
                        <a:t>S1a, 3.05×</a:t>
                      </a:r>
                    </a:p>
                  </a:txBody>
                  <a:tcPr marL="73152" marR="73152" marT="0" marB="0" anchor="ctr">
                    <a:solidFill>
                      <a:srgbClr val="FFFFFF"/>
                    </a:solidFill>
                  </a:tcPr>
                </a:tc>
                <a:tc>
                  <a:txBody>
                    <a:bodyPr/>
                    <a:lstStyle/>
                    <a:p>
                      <a:pPr algn="r"/>
                      <a:r>
                        <a:rPr sz="1300" b="0">
                          <a:solidFill>
                            <a:srgbClr val="111418"/>
                          </a:solidFill>
                          <a:latin typeface="Calibri"/>
                        </a:rPr>
                        <a:t>0.610 ha</a:t>
                      </a:r>
                    </a:p>
                  </a:txBody>
                  <a:tcPr marL="73152" marR="73152" marT="0" marB="0" anchor="ctr">
                    <a:solidFill>
                      <a:srgbClr val="FFFFFF"/>
                    </a:solidFill>
                  </a:tcPr>
                </a:tc>
                <a:tc>
                  <a:txBody>
                    <a:bodyPr/>
                    <a:lstStyle/>
                    <a:p>
                      <a:pPr algn="r"/>
                      <a:r>
                        <a:rPr sz="1300" b="0">
                          <a:solidFill>
                            <a:srgbClr val="111418"/>
                          </a:solidFill>
                          <a:latin typeface="Calibri"/>
                        </a:rPr>
                        <a:t>36 ± 8</a:t>
                      </a:r>
                    </a:p>
                  </a:txBody>
                  <a:tcPr marL="73152" marR="73152" marT="0" marB="0" anchor="ctr">
                    <a:solidFill>
                      <a:srgbClr val="FFFFFF"/>
                    </a:solidFill>
                  </a:tcPr>
                </a:tc>
                <a:tc>
                  <a:txBody>
                    <a:bodyPr/>
                    <a:lstStyle/>
                    <a:p>
                      <a:pPr algn="r"/>
                      <a:r>
                        <a:rPr sz="1300" b="0">
                          <a:solidFill>
                            <a:srgbClr val="111418"/>
                          </a:solidFill>
                          <a:latin typeface="Calibri"/>
                        </a:rPr>
                        <a:t>46</a:t>
                      </a:r>
                    </a:p>
                  </a:txBody>
                  <a:tcPr marL="73152" marR="73152" marT="0" marB="0" anchor="ctr">
                    <a:solidFill>
                      <a:srgbClr val="FFFFFF"/>
                    </a:solidFill>
                  </a:tcPr>
                </a:tc>
                <a:tc>
                  <a:txBody>
                    <a:bodyPr/>
                    <a:lstStyle/>
                    <a:p>
                      <a:pPr algn="r"/>
                      <a:r>
                        <a:rPr sz="1300" b="0">
                          <a:solidFill>
                            <a:srgbClr val="111418"/>
                          </a:solidFill>
                          <a:latin typeface="Calibri"/>
                        </a:rPr>
                        <a:t>+28%</a:t>
                      </a:r>
                    </a:p>
                  </a:txBody>
                  <a:tcPr marL="73152" marR="73152" marT="0" marB="0" anchor="ctr">
                    <a:solidFill>
                      <a:srgbClr val="FFFFFF"/>
                    </a:solidFill>
                  </a:tcPr>
                </a:tc>
              </a:tr>
              <a:tr h="292608">
                <a:tc>
                  <a:txBody>
                    <a:bodyPr/>
                    <a:lstStyle/>
                    <a:p>
                      <a:pPr algn="l"/>
                      <a:r>
                        <a:rPr sz="1300" b="1">
                          <a:solidFill>
                            <a:srgbClr val="111418"/>
                          </a:solidFill>
                          <a:latin typeface="Calibri"/>
                        </a:rPr>
                        <a:t>chA</a:t>
                      </a:r>
                    </a:p>
                  </a:txBody>
                  <a:tcPr marL="73152" marR="73152" marT="0" marB="0" anchor="ctr">
                    <a:solidFill>
                      <a:srgbClr val="EEF4F0"/>
                    </a:solidFill>
                  </a:tcPr>
                </a:tc>
                <a:tc>
                  <a:txBody>
                    <a:bodyPr/>
                    <a:lstStyle/>
                    <a:p>
                      <a:pPr algn="r"/>
                      <a:r>
                        <a:rPr sz="1300" b="1">
                          <a:solidFill>
                            <a:srgbClr val="111418"/>
                          </a:solidFill>
                          <a:latin typeface="Calibri"/>
                        </a:rPr>
                        <a:t>S2, native</a:t>
                      </a:r>
                    </a:p>
                  </a:txBody>
                  <a:tcPr marL="73152" marR="73152" marT="0" marB="0" anchor="ctr">
                    <a:solidFill>
                      <a:srgbClr val="EEF4F0"/>
                    </a:solidFill>
                  </a:tcPr>
                </a:tc>
                <a:tc>
                  <a:txBody>
                    <a:bodyPr/>
                    <a:lstStyle/>
                    <a:p>
                      <a:pPr algn="r"/>
                      <a:r>
                        <a:rPr sz="1300" b="1">
                          <a:solidFill>
                            <a:srgbClr val="111418"/>
                          </a:solidFill>
                          <a:latin typeface="Calibri"/>
                        </a:rPr>
                        <a:t>0.262 ha</a:t>
                      </a:r>
                    </a:p>
                  </a:txBody>
                  <a:tcPr marL="73152" marR="73152" marT="0" marB="0" anchor="ctr">
                    <a:solidFill>
                      <a:srgbClr val="EEF4F0"/>
                    </a:solidFill>
                  </a:tcPr>
                </a:tc>
                <a:tc>
                  <a:txBody>
                    <a:bodyPr/>
                    <a:lstStyle/>
                    <a:p>
                      <a:pPr algn="r"/>
                      <a:r>
                        <a:rPr sz="1300" b="1">
                          <a:solidFill>
                            <a:srgbClr val="111418"/>
                          </a:solidFill>
                          <a:latin typeface="Calibri"/>
                        </a:rPr>
                        <a:t>48 ± 14</a:t>
                      </a:r>
                    </a:p>
                  </a:txBody>
                  <a:tcPr marL="73152" marR="73152" marT="0" marB="0" anchor="ctr">
                    <a:solidFill>
                      <a:srgbClr val="EEF4F0"/>
                    </a:solidFill>
                  </a:tcPr>
                </a:tc>
                <a:tc>
                  <a:txBody>
                    <a:bodyPr/>
                    <a:lstStyle/>
                    <a:p>
                      <a:pPr algn="r"/>
                      <a:r>
                        <a:rPr sz="1300" b="1">
                          <a:solidFill>
                            <a:srgbClr val="111418"/>
                          </a:solidFill>
                          <a:latin typeface="Calibri"/>
                        </a:rPr>
                        <a:t>9</a:t>
                      </a:r>
                    </a:p>
                  </a:txBody>
                  <a:tcPr marL="73152" marR="73152" marT="0" marB="0" anchor="ctr">
                    <a:solidFill>
                      <a:srgbClr val="EEF4F0"/>
                    </a:solidFill>
                  </a:tcPr>
                </a:tc>
                <a:tc>
                  <a:txBody>
                    <a:bodyPr/>
                    <a:lstStyle/>
                    <a:p>
                      <a:pPr algn="r"/>
                      <a:r>
                        <a:rPr sz="1300" b="1">
                          <a:solidFill>
                            <a:srgbClr val="111418"/>
                          </a:solidFill>
                          <a:latin typeface="Calibri"/>
                        </a:rPr>
                        <a:t>−81%</a:t>
                      </a:r>
                    </a:p>
                  </a:txBody>
                  <a:tcPr marL="73152" marR="73152" marT="0" marB="0" anchor="ctr">
                    <a:solidFill>
                      <a:srgbClr val="EEF4F0"/>
                    </a:solidFill>
                  </a:tcPr>
                </a:tc>
              </a:tr>
            </a:tbl>
          </a:graphicData>
        </a:graphic>
      </p:graphicFrame>
      <p:sp>
        <p:nvSpPr>
          <p:cNvPr id="7" name="TextBox 6"/>
          <p:cNvSpPr txBox="1"/>
          <p:nvPr/>
        </p:nvSpPr>
        <p:spPr>
          <a:xfrm>
            <a:off x="658368" y="3200400"/>
            <a:ext cx="10874959" cy="2834640"/>
          </a:xfrm>
          <a:prstGeom prst="rect">
            <a:avLst/>
          </a:prstGeom>
          <a:noFill/>
        </p:spPr>
        <p:txBody>
          <a:bodyPr wrap="square" anchor="t" lIns="0" rIns="0" tIns="0" bIns="0">
            <a:spAutoFit/>
          </a:bodyPr>
          <a:lstStyle/>
          <a:p>
            <a:pPr>
              <a:lnSpc>
                <a:spcPct val="114000"/>
              </a:lnSpc>
              <a:spcAft>
                <a:spcPts val="1100"/>
              </a:spcAft>
            </a:pPr>
            <a:r>
              <a:rPr b="1" sz="1400">
                <a:solidFill>
                  <a:srgbClr val="111418"/>
                </a:solidFill>
                <a:latin typeface="Calibri"/>
              </a:rPr>
              <a:t>Method, stated up front. </a:t>
            </a:r>
            <a:r>
              <a:rPr sz="1400">
                <a:solidFill>
                  <a:srgbClr val="3B4250"/>
                </a:solidFill>
                <a:latin typeface="Calibri"/>
              </a:rPr>
              <a:t>One count per distinguishable crown unit bounded by shadow or texture discontinuity; unresolvable clumps counted by apparent apex; crops quartered and counted cell by cell.</a:t>
            </a:r>
          </a:p>
          <a:p>
            <a:pPr>
              <a:lnSpc>
                <a:spcPct val="114000"/>
              </a:lnSpc>
              <a:spcAft>
                <a:spcPts val="1100"/>
              </a:spcAft>
            </a:pPr>
            <a:r>
              <a:rPr b="1" sz="1400">
                <a:solidFill>
                  <a:srgbClr val="111418"/>
                </a:solidFill>
                <a:latin typeface="Calibri"/>
              </a:rPr>
              <a:t>Open canopy runs 19–28% high. </a:t>
            </a:r>
            <a:r>
              <a:rPr sz="1400">
                <a:solidFill>
                  <a:srgbClr val="3B4250"/>
                </a:solidFill>
                <a:latin typeface="Calibri"/>
              </a:rPr>
              <a:t>At or just beyond the counting uncertainty. Likely clump splitting and shadow detections.</a:t>
            </a:r>
          </a:p>
          <a:p>
            <a:pPr>
              <a:lnSpc>
                <a:spcPct val="114000"/>
              </a:lnSpc>
              <a:spcAft>
                <a:spcPts val="1100"/>
              </a:spcAft>
            </a:pPr>
            <a:r>
              <a:rPr b="1" sz="1400">
                <a:solidFill>
                  <a:srgbClr val="111418"/>
                </a:solidFill>
                <a:latin typeface="Calibri"/>
              </a:rPr>
              <a:t>Closed canopy recovers ~1 in 5. </a:t>
            </a:r>
            <a:r>
              <a:rPr sz="1400">
                <a:solidFill>
                  <a:srgbClr val="3B4250"/>
                </a:solidFill>
                <a:latin typeface="Calibri"/>
              </a:rPr>
              <a:t>Not a borderline result, and no threshold setting changes its character.</a:t>
            </a:r>
          </a:p>
          <a:p>
            <a:pPr>
              <a:lnSpc>
                <a:spcPct val="114000"/>
              </a:lnSpc>
              <a:spcAft>
                <a:spcPts val="1100"/>
              </a:spcAft>
            </a:pPr>
            <a:r>
              <a:rPr b="1" sz="1400">
                <a:solidFill>
                  <a:srgbClr val="111418"/>
                </a:solidFill>
                <a:latin typeface="Calibri"/>
              </a:rPr>
              <a:t>The uncertainty is itself a finding. </a:t>
            </a:r>
            <a:r>
              <a:rPr sz="1400">
                <a:solidFill>
                  <a:srgbClr val="3B4250"/>
                </a:solidFill>
                <a:latin typeface="Calibri"/>
              </a:rPr>
              <a:t>At 0.49 m native GSD even careful manual counting cannot separate clumps reliably — so don't over-read the open-canopy agreement.</a:t>
            </a:r>
          </a:p>
        </p:txBody>
      </p:sp>
      <p:sp>
        <p:nvSpPr>
          <p:cNvPr id="8" name="Rectangle 7"/>
          <p:cNvSpPr/>
          <p:nvPr/>
        </p:nvSpPr>
        <p:spPr>
          <a:xfrm>
            <a:off x="658368" y="5532120"/>
            <a:ext cx="10874959" cy="777240"/>
          </a:xfrm>
          <a:prstGeom prst="rect">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5532120"/>
            <a:ext cx="41148" cy="777240"/>
          </a:xfrm>
          <a:prstGeom prst="rect">
            <a:avLst/>
          </a:prstGeom>
          <a:solidFill>
            <a:srgbClr val="9A62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5678424"/>
            <a:ext cx="10417759" cy="502920"/>
          </a:xfrm>
          <a:prstGeom prst="rect">
            <a:avLst/>
          </a:prstGeom>
          <a:noFill/>
        </p:spPr>
        <p:txBody>
          <a:bodyPr wrap="square" anchor="t" lIns="0" rIns="0" tIns="0" bIns="0">
            <a:spAutoFit/>
          </a:bodyPr>
          <a:lstStyle/>
          <a:p>
            <a:pPr algn="l">
              <a:lnSpc>
                <a:spcPct val="112000"/>
              </a:lnSpc>
              <a:spcAft>
                <a:spcPts val="0"/>
              </a:spcAft>
            </a:pPr>
            <a:r>
              <a:rPr sz="1400" b="0" i="0">
                <a:solidFill>
                  <a:srgbClr val="111418"/>
                </a:solidFill>
                <a:latin typeface="Calibri"/>
              </a:rPr>
              <a:t>These reference counts were made by the AI assistant that built the system — by eye, not by a human expert or field survey. They are independent of the detector but they are not ground truth, and both headline figures inherit that weakness. Stated wherever the numbers appear.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RIGOUR</a:t>
            </a:r>
          </a:p>
          <a:p>
            <a:pPr algn="l">
              <a:lnSpc>
                <a:spcPct val="95000"/>
              </a:lnSpc>
              <a:spcAft>
                <a:spcPts val="0"/>
              </a:spcAft>
            </a:pPr>
            <a:r>
              <a:rPr sz="2700" b="1" i="0">
                <a:solidFill>
                  <a:srgbClr val="111418"/>
                </a:solidFill>
                <a:latin typeface="Calibri"/>
              </a:rPr>
              <a:t>Three things I tried, measured, and threw away</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10</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sp>
        <p:nvSpPr>
          <p:cNvPr id="6" name="TextBox 5"/>
          <p:cNvSpPr txBox="1"/>
          <p:nvPr/>
        </p:nvSpPr>
        <p:spPr>
          <a:xfrm>
            <a:off x="658368" y="1783080"/>
            <a:ext cx="5532120" cy="4206240"/>
          </a:xfrm>
          <a:prstGeom prst="rect">
            <a:avLst/>
          </a:prstGeom>
          <a:noFill/>
        </p:spPr>
        <p:txBody>
          <a:bodyPr wrap="square" anchor="t" lIns="0" rIns="0" tIns="0" bIns="0">
            <a:spAutoFit/>
          </a:bodyPr>
          <a:lstStyle/>
          <a:p>
            <a:pPr algn="l">
              <a:lnSpc>
                <a:spcPct val="100000"/>
              </a:lnSpc>
              <a:spcAft>
                <a:spcPts val="500"/>
              </a:spcAft>
            </a:pPr>
            <a:r>
              <a:rPr sz="1100" b="1" i="0">
                <a:solidFill>
                  <a:srgbClr val="1F6B47"/>
                </a:solidFill>
                <a:latin typeface="Calibri"/>
              </a:rPr>
              <a:t>OTSU THRESHOLDING — REJECTED</a:t>
            </a:r>
          </a:p>
          <a:p>
            <a:pPr algn="l">
              <a:lnSpc>
                <a:spcPct val="112000"/>
              </a:lnSpc>
              <a:spcAft>
                <a:spcPts val="1600"/>
              </a:spcAft>
            </a:pPr>
            <a:r>
              <a:rPr sz="1300" b="0" i="0">
                <a:solidFill>
                  <a:srgbClr val="3B4250"/>
                </a:solidFill>
                <a:latin typeface="Calibri"/>
              </a:rPr>
              <a:t>It assumes a bimodal histogram with two real classes. On a uniformly vegetated image it splits within the vegetation distribution — sunlit against shaded crown — and claimed 62% cover on a ~100%-closed scene. Replaced with a fixed, stated threshold; Otsu is still reported as a diagnostic.</a:t>
            </a:r>
          </a:p>
          <a:p>
            <a:pPr algn="l">
              <a:lnSpc>
                <a:spcPct val="100000"/>
              </a:lnSpc>
              <a:spcAft>
                <a:spcPts val="500"/>
              </a:spcAft>
            </a:pPr>
            <a:r>
              <a:rPr sz="1100" b="1" i="0">
                <a:solidFill>
                  <a:srgbClr val="1F6B47"/>
                </a:solidFill>
                <a:latin typeface="Calibri"/>
              </a:rPr>
              <a:t>TEXTURE FILTERING — REJECTED</a:t>
            </a:r>
          </a:p>
          <a:p>
            <a:pPr algn="l">
              <a:lnSpc>
                <a:spcPct val="112000"/>
              </a:lnSpc>
              <a:spcAft>
                <a:spcPts val="0"/>
              </a:spcAft>
            </a:pPr>
            <a:r>
              <a:rPr sz="1300" b="0" i="0">
                <a:solidFill>
                  <a:srgbClr val="3B4250"/>
                </a:solidFill>
                <a:latin typeface="Calibri"/>
              </a:rPr>
              <a:t>The vegetation index reads turbid lake water as 94.3% vegetation. Canopy is rough and water is smooth, so local σ looks like the fix: water 4.8, closed canopy 20.0 — but the open Okanagan stand is 6.3. Any threshold removing the lake also deletes a real forest scene. The app flags the condition instead of shipping a fix that works on one image.</a:t>
            </a:r>
          </a:p>
        </p:txBody>
      </p:sp>
      <p:sp>
        <p:nvSpPr>
          <p:cNvPr id="7" name="TextBox 6"/>
          <p:cNvSpPr txBox="1"/>
          <p:nvPr/>
        </p:nvSpPr>
        <p:spPr>
          <a:xfrm>
            <a:off x="6583680" y="1783080"/>
            <a:ext cx="4937760" cy="1097280"/>
          </a:xfrm>
          <a:prstGeom prst="rect">
            <a:avLst/>
          </a:prstGeom>
          <a:noFill/>
        </p:spPr>
        <p:txBody>
          <a:bodyPr wrap="square" anchor="t" lIns="0" rIns="0" tIns="0" bIns="0">
            <a:spAutoFit/>
          </a:bodyPr>
          <a:lstStyle/>
          <a:p>
            <a:pPr algn="l">
              <a:lnSpc>
                <a:spcPct val="100000"/>
              </a:lnSpc>
              <a:spcAft>
                <a:spcPts val="500"/>
              </a:spcAft>
            </a:pPr>
            <a:r>
              <a:rPr sz="1100" b="1" i="0">
                <a:solidFill>
                  <a:srgbClr val="1F6B47"/>
                </a:solidFill>
                <a:latin typeface="Calibri"/>
              </a:rPr>
              <a:t>A LIBRARY DOCSTRING — CHECKED, NOT TRUSTED</a:t>
            </a:r>
          </a:p>
          <a:p>
            <a:pPr algn="l">
              <a:lnSpc>
                <a:spcPct val="112000"/>
              </a:lnSpc>
              <a:spcAft>
                <a:spcPts val="0"/>
              </a:spcAft>
            </a:pPr>
            <a:r>
              <a:rPr sz="1300" b="0" i="0">
                <a:solidFill>
                  <a:srgbClr val="3B4250"/>
                </a:solidFill>
                <a:latin typeface="Calibri"/>
              </a:rPr>
              <a:t>The detector documents its image argument as BGR. The pipeline passes RGB. Rather than assume, both were tested on the library's own in-distribution crop:</a:t>
            </a:r>
          </a:p>
        </p:txBody>
      </p:sp>
      <p:graphicFrame>
        <p:nvGraphicFramePr>
          <p:cNvPr id="8" name="Table 7"/>
          <p:cNvGraphicFramePr>
            <a:graphicFrameLocks noGrp="1"/>
          </p:cNvGraphicFramePr>
          <p:nvPr/>
        </p:nvGraphicFramePr>
        <p:xfrm>
          <a:off x="6583680" y="3063240"/>
          <a:ext cx="4937760" cy="877824"/>
        </p:xfrm>
        <a:graphic>
          <a:graphicData uri="http://schemas.openxmlformats.org/drawingml/2006/table">
            <a:tbl>
              <a:tblPr firstRow="1" bandRow="1">
                <a:tableStyleId>{5C22544A-7EE6-4342-B048-85BDC9FD1C3A}</a:tableStyleId>
              </a:tblPr>
              <a:tblGrid>
                <a:gridCol w="1975104"/>
                <a:gridCol w="822960"/>
                <a:gridCol w="1069848"/>
                <a:gridCol w="1069848"/>
              </a:tblGrid>
              <a:tr h="292608">
                <a:tc>
                  <a:txBody>
                    <a:bodyPr/>
                    <a:lstStyle/>
                    <a:p>
                      <a:pPr algn="l"/>
                      <a:r>
                        <a:rPr sz="1200" b="1">
                          <a:solidFill>
                            <a:srgbClr val="FFFFFF"/>
                          </a:solidFill>
                          <a:latin typeface="Calibri"/>
                        </a:rPr>
                        <a:t>Channel order</a:t>
                      </a:r>
                    </a:p>
                  </a:txBody>
                  <a:tcPr marL="73152" marR="73152" marT="0" marB="0" anchor="ctr">
                    <a:solidFill>
                      <a:srgbClr val="14512F"/>
                    </a:solidFill>
                  </a:tcPr>
                </a:tc>
                <a:tc>
                  <a:txBody>
                    <a:bodyPr/>
                    <a:lstStyle/>
                    <a:p>
                      <a:pPr algn="r"/>
                      <a:r>
                        <a:rPr sz="1200" b="1">
                          <a:solidFill>
                            <a:srgbClr val="FFFFFF"/>
                          </a:solidFill>
                          <a:latin typeface="Calibri"/>
                        </a:rPr>
                        <a:t>Trees</a:t>
                      </a:r>
                    </a:p>
                  </a:txBody>
                  <a:tcPr marL="73152" marR="73152" marT="0" marB="0" anchor="ctr">
                    <a:solidFill>
                      <a:srgbClr val="14512F"/>
                    </a:solidFill>
                  </a:tcPr>
                </a:tc>
                <a:tc>
                  <a:txBody>
                    <a:bodyPr/>
                    <a:lstStyle/>
                    <a:p>
                      <a:pPr algn="r"/>
                      <a:r>
                        <a:rPr sz="1200" b="1">
                          <a:solidFill>
                            <a:srgbClr val="FFFFFF"/>
                          </a:solidFill>
                          <a:latin typeface="Calibri"/>
                        </a:rPr>
                        <a:t>Mean conf.</a:t>
                      </a:r>
                    </a:p>
                  </a:txBody>
                  <a:tcPr marL="73152" marR="73152" marT="0" marB="0" anchor="ctr">
                    <a:solidFill>
                      <a:srgbClr val="14512F"/>
                    </a:solidFill>
                  </a:tcPr>
                </a:tc>
                <a:tc>
                  <a:txBody>
                    <a:bodyPr/>
                    <a:lstStyle/>
                    <a:p>
                      <a:pPr algn="r"/>
                      <a:r>
                        <a:rPr sz="1200" b="1">
                          <a:solidFill>
                            <a:srgbClr val="FFFFFF"/>
                          </a:solidFill>
                          <a:latin typeface="Calibri"/>
                        </a:rPr>
                        <a:t>Conf &gt; 0.5</a:t>
                      </a:r>
                    </a:p>
                  </a:txBody>
                  <a:tcPr marL="73152" marR="73152" marT="0" marB="0" anchor="ctr">
                    <a:solidFill>
                      <a:srgbClr val="14512F"/>
                    </a:solidFill>
                  </a:tcPr>
                </a:tc>
              </a:tr>
              <a:tr h="292608">
                <a:tc>
                  <a:txBody>
                    <a:bodyPr/>
                    <a:lstStyle/>
                    <a:p>
                      <a:pPr algn="l"/>
                      <a:r>
                        <a:rPr sz="1200" b="1">
                          <a:solidFill>
                            <a:srgbClr val="111418"/>
                          </a:solidFill>
                          <a:latin typeface="Calibri"/>
                        </a:rPr>
                        <a:t>RGB (what we pass)</a:t>
                      </a:r>
                    </a:p>
                  </a:txBody>
                  <a:tcPr marL="73152" marR="73152" marT="0" marB="0" anchor="ctr">
                    <a:solidFill>
                      <a:srgbClr val="EEF4F0"/>
                    </a:solidFill>
                  </a:tcPr>
                </a:tc>
                <a:tc>
                  <a:txBody>
                    <a:bodyPr/>
                    <a:lstStyle/>
                    <a:p>
                      <a:pPr algn="r"/>
                      <a:r>
                        <a:rPr sz="1200" b="1">
                          <a:solidFill>
                            <a:srgbClr val="111418"/>
                          </a:solidFill>
                          <a:latin typeface="Calibri"/>
                        </a:rPr>
                        <a:t>55</a:t>
                      </a:r>
                    </a:p>
                  </a:txBody>
                  <a:tcPr marL="73152" marR="73152" marT="0" marB="0" anchor="ctr">
                    <a:solidFill>
                      <a:srgbClr val="EEF4F0"/>
                    </a:solidFill>
                  </a:tcPr>
                </a:tc>
                <a:tc>
                  <a:txBody>
                    <a:bodyPr/>
                    <a:lstStyle/>
                    <a:p>
                      <a:pPr algn="r"/>
                      <a:r>
                        <a:rPr sz="1200" b="1">
                          <a:solidFill>
                            <a:srgbClr val="111418"/>
                          </a:solidFill>
                          <a:latin typeface="Calibri"/>
                        </a:rPr>
                        <a:t>0.535</a:t>
                      </a:r>
                    </a:p>
                  </a:txBody>
                  <a:tcPr marL="73152" marR="73152" marT="0" marB="0" anchor="ctr">
                    <a:solidFill>
                      <a:srgbClr val="EEF4F0"/>
                    </a:solidFill>
                  </a:tcPr>
                </a:tc>
                <a:tc>
                  <a:txBody>
                    <a:bodyPr/>
                    <a:lstStyle/>
                    <a:p>
                      <a:pPr algn="r"/>
                      <a:r>
                        <a:rPr sz="1200" b="1">
                          <a:solidFill>
                            <a:srgbClr val="111418"/>
                          </a:solidFill>
                          <a:latin typeface="Calibri"/>
                        </a:rPr>
                        <a:t>35</a:t>
                      </a:r>
                    </a:p>
                  </a:txBody>
                  <a:tcPr marL="73152" marR="73152" marT="0" marB="0" anchor="ctr">
                    <a:solidFill>
                      <a:srgbClr val="EEF4F0"/>
                    </a:solidFill>
                  </a:tcPr>
                </a:tc>
              </a:tr>
              <a:tr h="292608">
                <a:tc>
                  <a:txBody>
                    <a:bodyPr/>
                    <a:lstStyle/>
                    <a:p>
                      <a:pPr algn="l"/>
                      <a:r>
                        <a:rPr sz="1200" b="0">
                          <a:solidFill>
                            <a:srgbClr val="111418"/>
                          </a:solidFill>
                          <a:latin typeface="Calibri"/>
                        </a:rPr>
                        <a:t>BGR (per the docs)</a:t>
                      </a:r>
                    </a:p>
                  </a:txBody>
                  <a:tcPr marL="73152" marR="73152" marT="0" marB="0" anchor="ctr">
                    <a:solidFill>
                      <a:srgbClr val="FFFFFF"/>
                    </a:solidFill>
                  </a:tcPr>
                </a:tc>
                <a:tc>
                  <a:txBody>
                    <a:bodyPr/>
                    <a:lstStyle/>
                    <a:p>
                      <a:pPr algn="r"/>
                      <a:r>
                        <a:rPr sz="1200" b="0">
                          <a:solidFill>
                            <a:srgbClr val="111418"/>
                          </a:solidFill>
                          <a:latin typeface="Calibri"/>
                        </a:rPr>
                        <a:t>29</a:t>
                      </a:r>
                    </a:p>
                  </a:txBody>
                  <a:tcPr marL="73152" marR="73152" marT="0" marB="0" anchor="ctr">
                    <a:solidFill>
                      <a:srgbClr val="FFFFFF"/>
                    </a:solidFill>
                  </a:tcPr>
                </a:tc>
                <a:tc>
                  <a:txBody>
                    <a:bodyPr/>
                    <a:lstStyle/>
                    <a:p>
                      <a:pPr algn="r"/>
                      <a:r>
                        <a:rPr sz="1200" b="0">
                          <a:solidFill>
                            <a:srgbClr val="111418"/>
                          </a:solidFill>
                          <a:latin typeface="Calibri"/>
                        </a:rPr>
                        <a:t>0.389</a:t>
                      </a:r>
                    </a:p>
                  </a:txBody>
                  <a:tcPr marL="73152" marR="73152" marT="0" marB="0" anchor="ctr">
                    <a:solidFill>
                      <a:srgbClr val="FFFFFF"/>
                    </a:solidFill>
                  </a:tcPr>
                </a:tc>
                <a:tc>
                  <a:txBody>
                    <a:bodyPr/>
                    <a:lstStyle/>
                    <a:p>
                      <a:pPr algn="r"/>
                      <a:r>
                        <a:rPr sz="1200" b="0">
                          <a:solidFill>
                            <a:srgbClr val="111418"/>
                          </a:solidFill>
                          <a:latin typeface="Calibri"/>
                        </a:rPr>
                        <a:t>5</a:t>
                      </a:r>
                    </a:p>
                  </a:txBody>
                  <a:tcPr marL="73152" marR="73152" marT="0" marB="0" anchor="ctr">
                    <a:solidFill>
                      <a:srgbClr val="FFFFFF"/>
                    </a:solidFill>
                  </a:tcPr>
                </a:tc>
              </a:tr>
            </a:tbl>
          </a:graphicData>
        </a:graphic>
      </p:graphicFrame>
      <p:sp>
        <p:nvSpPr>
          <p:cNvPr id="9" name="Rectangle 8"/>
          <p:cNvSpPr/>
          <p:nvPr/>
        </p:nvSpPr>
        <p:spPr>
          <a:xfrm>
            <a:off x="6583680" y="4297680"/>
            <a:ext cx="4937760" cy="777240"/>
          </a:xfrm>
          <a:prstGeom prst="rect">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0" y="4297680"/>
            <a:ext cx="41148" cy="777240"/>
          </a:xfrm>
          <a:prstGeom prst="rect">
            <a:avLst/>
          </a:prstGeom>
          <a:solidFill>
            <a:srgbClr val="9A62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4443984"/>
            <a:ext cx="4480560" cy="502920"/>
          </a:xfrm>
          <a:prstGeom prst="rect">
            <a:avLst/>
          </a:prstGeom>
          <a:noFill/>
        </p:spPr>
        <p:txBody>
          <a:bodyPr wrap="square" anchor="t" lIns="0" rIns="0" tIns="0" bIns="0">
            <a:spAutoFit/>
          </a:bodyPr>
          <a:lstStyle/>
          <a:p>
            <a:pPr algn="l">
              <a:lnSpc>
                <a:spcPct val="112000"/>
              </a:lnSpc>
              <a:spcAft>
                <a:spcPts val="0"/>
              </a:spcAft>
            </a:pPr>
            <a:r>
              <a:rPr sz="1400" b="0" i="0">
                <a:solidFill>
                  <a:srgbClr val="111418"/>
                </a:solidFill>
                <a:latin typeface="Calibri"/>
              </a:rPr>
              <a:t>RGB is correct; the docstring is stale. Had it gone the other way, every number in this project would have come from transposed colour channels.</a:t>
            </a:r>
          </a:p>
        </p:txBody>
      </p:sp>
      <p:sp>
        <p:nvSpPr>
          <p:cNvPr id="12" name="TextBox 11"/>
          <p:cNvSpPr txBox="1"/>
          <p:nvPr/>
        </p:nvSpPr>
        <p:spPr>
          <a:xfrm>
            <a:off x="6583680" y="5257800"/>
            <a:ext cx="4937760" cy="1005840"/>
          </a:xfrm>
          <a:prstGeom prst="rect">
            <a:avLst/>
          </a:prstGeom>
          <a:noFill/>
        </p:spPr>
        <p:txBody>
          <a:bodyPr wrap="square" anchor="t" lIns="0" rIns="0" tIns="0" bIns="0">
            <a:spAutoFit/>
          </a:bodyPr>
          <a:lstStyle/>
          <a:p>
            <a:pPr algn="l">
              <a:lnSpc>
                <a:spcPct val="100000"/>
              </a:lnSpc>
              <a:spcAft>
                <a:spcPts val="500"/>
              </a:spcAft>
            </a:pPr>
            <a:r>
              <a:rPr sz="1100" b="1" i="0">
                <a:solidFill>
                  <a:srgbClr val="1F6B47"/>
                </a:solidFill>
                <a:latin typeface="Calibri"/>
              </a:rPr>
              <a:t>NEGATIVE CONTROLS</a:t>
            </a:r>
          </a:p>
          <a:p>
            <a:pPr algn="l">
              <a:lnSpc>
                <a:spcPct val="110000"/>
              </a:lnSpc>
              <a:spcAft>
                <a:spcPts val="0"/>
              </a:spcAft>
            </a:pPr>
            <a:r>
              <a:rPr sz="1200" b="0" i="0">
                <a:solidFill>
                  <a:srgbClr val="3B4250"/>
                </a:solidFill>
                <a:latin typeface="Calibri"/>
              </a:rPr>
              <a:t>Open water: 2 detections over 9.77 ha, 0.0% crown union — effectively clean. Urban core: detections land on real street trees, roofs almost entirely clear, a handful of genuine rooftop false positives.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ENGINEERING</a:t>
            </a:r>
          </a:p>
          <a:p>
            <a:pPr algn="l">
              <a:lnSpc>
                <a:spcPct val="95000"/>
              </a:lnSpc>
              <a:spcAft>
                <a:spcPts val="0"/>
              </a:spcAft>
            </a:pPr>
            <a:r>
              <a:rPr sz="2700" b="1" i="0">
                <a:solidFill>
                  <a:srgbClr val="111418"/>
                </a:solidFill>
                <a:latin typeface="Calibri"/>
              </a:rPr>
              <a:t>Reproducibility, tested where it matters</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11</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sp>
        <p:nvSpPr>
          <p:cNvPr id="6" name="TextBox 5"/>
          <p:cNvSpPr txBox="1"/>
          <p:nvPr/>
        </p:nvSpPr>
        <p:spPr>
          <a:xfrm>
            <a:off x="658368" y="1783080"/>
            <a:ext cx="5623560" cy="4251960"/>
          </a:xfrm>
          <a:prstGeom prst="rect">
            <a:avLst/>
          </a:prstGeom>
          <a:noFill/>
        </p:spPr>
        <p:txBody>
          <a:bodyPr wrap="square" anchor="t" lIns="0" rIns="0" tIns="0" bIns="0">
            <a:spAutoFit/>
          </a:bodyPr>
          <a:lstStyle/>
          <a:p>
            <a:pPr>
              <a:lnSpc>
                <a:spcPct val="114000"/>
              </a:lnSpc>
              <a:spcAft>
                <a:spcPts val="1100"/>
              </a:spcAft>
            </a:pPr>
            <a:r>
              <a:rPr b="1" sz="1400">
                <a:solidFill>
                  <a:srgbClr val="111418"/>
                </a:solidFill>
                <a:latin typeface="Calibri"/>
              </a:rPr>
              <a:t>80 tests, no model weights needed. </a:t>
            </a:r>
            <a:r>
              <a:rPr sz="1400">
                <a:solidFill>
                  <a:srgbClr val="3B4250"/>
                </a:solidFill>
                <a:latin typeface="Calibri"/>
              </a:rPr>
              <a:t>Area arithmetic, GSD precedence, resampling and box remapping, union-vs-sum cover, duplicate suppression, edge flagging, mask acceptance, export shapes — so the measurement logic is verifiable without a GPU.</a:t>
            </a:r>
          </a:p>
          <a:p>
            <a:pPr>
              <a:lnSpc>
                <a:spcPct val="114000"/>
              </a:lnSpc>
              <a:spcAft>
                <a:spcPts val="1100"/>
              </a:spcAft>
            </a:pPr>
            <a:r>
              <a:rPr b="1" sz="1400">
                <a:solidFill>
                  <a:srgbClr val="111418"/>
                </a:solidFill>
                <a:latin typeface="Calibri"/>
              </a:rPr>
              <a:t>13 mechanical QA checks. </a:t>
            </a:r>
            <a:r>
              <a:rPr sz="1400">
                <a:solidFill>
                  <a:srgbClr val="3B4250"/>
                </a:solidFill>
                <a:latin typeface="Calibri"/>
              </a:rPr>
              <a:t>Run against the acceptance criteria, including a grep for accuracy claims that should not exist.</a:t>
            </a:r>
          </a:p>
          <a:p>
            <a:pPr>
              <a:lnSpc>
                <a:spcPct val="114000"/>
              </a:lnSpc>
              <a:spcAft>
                <a:spcPts val="1100"/>
              </a:spcAft>
            </a:pPr>
            <a:r>
              <a:rPr b="1" sz="1400">
                <a:solidFill>
                  <a:srgbClr val="111418"/>
                </a:solidFill>
                <a:latin typeface="Calibri"/>
              </a:rPr>
              <a:t>Every run exports its own metadata. </a:t>
            </a:r>
            <a:r>
              <a:rPr sz="1400">
                <a:solidFill>
                  <a:srgbClr val="3B4250"/>
                </a:solidFill>
                <a:latin typeface="Calibri"/>
              </a:rPr>
              <a:t>Image identity, GSD and its origin, model versions, all thresholds, resampling scale, timings, peak memory. Any count is reproducible from its own export.</a:t>
            </a:r>
          </a:p>
          <a:p>
            <a:pPr>
              <a:lnSpc>
                <a:spcPct val="114000"/>
              </a:lnSpc>
              <a:spcAft>
                <a:spcPts val="1100"/>
              </a:spcAft>
            </a:pPr>
            <a:r>
              <a:rPr b="1" sz="1400">
                <a:solidFill>
                  <a:srgbClr val="111418"/>
                </a:solidFill>
                <a:latin typeface="Calibri"/>
              </a:rPr>
              <a:t>Imagery rebuilds from a scene ID. </a:t>
            </a:r>
            <a:r>
              <a:rPr sz="1400">
                <a:solidFill>
                  <a:srgbClr val="3B4250"/>
                </a:solidFill>
                <a:latin typeface="Calibri"/>
              </a:rPr>
              <a:t>Window-addressed COG reads, not a folder of downloads.</a:t>
            </a:r>
          </a:p>
        </p:txBody>
      </p:sp>
      <p:sp>
        <p:nvSpPr>
          <p:cNvPr id="7" name="TextBox 6"/>
          <p:cNvSpPr txBox="1"/>
          <p:nvPr/>
        </p:nvSpPr>
        <p:spPr>
          <a:xfrm>
            <a:off x="6629400" y="1783080"/>
            <a:ext cx="4892040" cy="365760"/>
          </a:xfrm>
          <a:prstGeom prst="rect">
            <a:avLst/>
          </a:prstGeom>
          <a:noFill/>
        </p:spPr>
        <p:txBody>
          <a:bodyPr wrap="square" anchor="t" lIns="0" rIns="0" tIns="0" bIns="0">
            <a:spAutoFit/>
          </a:bodyPr>
          <a:lstStyle/>
          <a:p>
            <a:pPr algn="l">
              <a:lnSpc>
                <a:spcPct val="100000"/>
              </a:lnSpc>
              <a:spcAft>
                <a:spcPts val="600"/>
              </a:spcAft>
            </a:pPr>
            <a:r>
              <a:rPr sz="1100" b="1" i="0">
                <a:solidFill>
                  <a:srgbClr val="1F6B47"/>
                </a:solidFill>
                <a:latin typeface="Calibri"/>
              </a:rPr>
              <a:t>MEMORY — MEASURED, NOT ASSUMED</a:t>
            </a:r>
          </a:p>
        </p:txBody>
      </p:sp>
      <p:graphicFrame>
        <p:nvGraphicFramePr>
          <p:cNvPr id="8" name="Table 7"/>
          <p:cNvGraphicFramePr>
            <a:graphicFrameLocks noGrp="1"/>
          </p:cNvGraphicFramePr>
          <p:nvPr/>
        </p:nvGraphicFramePr>
        <p:xfrm>
          <a:off x="6629400" y="2194560"/>
          <a:ext cx="4892038" cy="877824"/>
        </p:xfrm>
        <a:graphic>
          <a:graphicData uri="http://schemas.openxmlformats.org/drawingml/2006/table">
            <a:tbl>
              <a:tblPr firstRow="1" bandRow="1">
                <a:tableStyleId>{5C22544A-7EE6-4342-B048-85BDC9FD1C3A}</a:tableStyleId>
              </a:tblPr>
              <a:tblGrid>
                <a:gridCol w="2059806"/>
                <a:gridCol w="1287378"/>
                <a:gridCol w="1544854"/>
              </a:tblGrid>
              <a:tr h="292608">
                <a:tc>
                  <a:txBody>
                    <a:bodyPr/>
                    <a:lstStyle/>
                    <a:p>
                      <a:pPr algn="l"/>
                      <a:r>
                        <a:rPr sz="1200" b="1">
                          <a:solidFill>
                            <a:srgbClr val="FFFFFF"/>
                          </a:solidFill>
                          <a:latin typeface="Calibri"/>
                        </a:rPr>
                        <a:t>Inference path</a:t>
                      </a:r>
                    </a:p>
                  </a:txBody>
                  <a:tcPr marL="73152" marR="73152" marT="0" marB="0" anchor="ctr">
                    <a:solidFill>
                      <a:srgbClr val="14512F"/>
                    </a:solidFill>
                  </a:tcPr>
                </a:tc>
                <a:tc>
                  <a:txBody>
                    <a:bodyPr/>
                    <a:lstStyle/>
                    <a:p>
                      <a:pPr algn="r"/>
                      <a:r>
                        <a:rPr sz="1200" b="1">
                          <a:solidFill>
                            <a:srgbClr val="FFFFFF"/>
                          </a:solidFill>
                          <a:latin typeface="Calibri"/>
                        </a:rPr>
                        <a:t>Peak RSS</a:t>
                      </a:r>
                    </a:p>
                  </a:txBody>
                  <a:tcPr marL="73152" marR="73152" marT="0" marB="0" anchor="ctr">
                    <a:solidFill>
                      <a:srgbClr val="14512F"/>
                    </a:solidFill>
                  </a:tcPr>
                </a:tc>
                <a:tc>
                  <a:txBody>
                    <a:bodyPr/>
                    <a:lstStyle/>
                    <a:p>
                      <a:pPr algn="r"/>
                      <a:r>
                        <a:rPr sz="1200" b="1">
                          <a:solidFill>
                            <a:srgbClr val="FFFFFF"/>
                          </a:solidFill>
                          <a:latin typeface="Calibri"/>
                        </a:rPr>
                        <a:t>Detections</a:t>
                      </a:r>
                    </a:p>
                  </a:txBody>
                  <a:tcPr marL="73152" marR="73152" marT="0" marB="0" anchor="ctr">
                    <a:solidFill>
                      <a:srgbClr val="14512F"/>
                    </a:solidFill>
                  </a:tcPr>
                </a:tc>
              </a:tr>
              <a:tr h="292608">
                <a:tc>
                  <a:txBody>
                    <a:bodyPr/>
                    <a:lstStyle/>
                    <a:p>
                      <a:pPr algn="l"/>
                      <a:r>
                        <a:rPr sz="1200" b="0">
                          <a:solidFill>
                            <a:srgbClr val="111418"/>
                          </a:solidFill>
                          <a:latin typeface="Calibri"/>
                        </a:rPr>
                        <a:t>In-memory tiling</a:t>
                      </a:r>
                    </a:p>
                  </a:txBody>
                  <a:tcPr marL="73152" marR="73152" marT="0" marB="0" anchor="ctr">
                    <a:solidFill>
                      <a:srgbClr val="FFFFFF"/>
                    </a:solidFill>
                  </a:tcPr>
                </a:tc>
                <a:tc>
                  <a:txBody>
                    <a:bodyPr/>
                    <a:lstStyle/>
                    <a:p>
                      <a:pPr algn="r"/>
                      <a:r>
                        <a:rPr sz="1200" b="0">
                          <a:solidFill>
                            <a:srgbClr val="111418"/>
                          </a:solidFill>
                          <a:latin typeface="Calibri"/>
                        </a:rPr>
                        <a:t>~1270 MB</a:t>
                      </a:r>
                    </a:p>
                  </a:txBody>
                  <a:tcPr marL="73152" marR="73152" marT="0" marB="0" anchor="ctr">
                    <a:solidFill>
                      <a:srgbClr val="FFFFFF"/>
                    </a:solidFill>
                  </a:tcPr>
                </a:tc>
                <a:tc>
                  <a:txBody>
                    <a:bodyPr/>
                    <a:lstStyle/>
                    <a:p>
                      <a:pPr algn="r"/>
                      <a:r>
                        <a:rPr sz="1200" b="0">
                          <a:solidFill>
                            <a:srgbClr val="111418"/>
                          </a:solidFill>
                          <a:latin typeface="Calibri"/>
                        </a:rPr>
                        <a:t>695</a:t>
                      </a:r>
                    </a:p>
                  </a:txBody>
                  <a:tcPr marL="73152" marR="73152" marT="0" marB="0" anchor="ctr">
                    <a:solidFill>
                      <a:srgbClr val="FFFFFF"/>
                    </a:solidFill>
                  </a:tcPr>
                </a:tc>
              </a:tr>
              <a:tr h="292608">
                <a:tc>
                  <a:txBody>
                    <a:bodyPr/>
                    <a:lstStyle/>
                    <a:p>
                      <a:pPr algn="l"/>
                      <a:r>
                        <a:rPr sz="1200" b="1">
                          <a:solidFill>
                            <a:srgbClr val="111418"/>
                          </a:solidFill>
                          <a:latin typeface="Calibri"/>
                        </a:rPr>
                        <a:t>Windowed (default)</a:t>
                      </a:r>
                    </a:p>
                  </a:txBody>
                  <a:tcPr marL="73152" marR="73152" marT="0" marB="0" anchor="ctr">
                    <a:solidFill>
                      <a:srgbClr val="EEF4F0"/>
                    </a:solidFill>
                  </a:tcPr>
                </a:tc>
                <a:tc>
                  <a:txBody>
                    <a:bodyPr/>
                    <a:lstStyle/>
                    <a:p>
                      <a:pPr algn="r"/>
                      <a:r>
                        <a:rPr sz="1200" b="1">
                          <a:solidFill>
                            <a:srgbClr val="111418"/>
                          </a:solidFill>
                          <a:latin typeface="Calibri"/>
                        </a:rPr>
                        <a:t>~1100 MB</a:t>
                      </a:r>
                    </a:p>
                  </a:txBody>
                  <a:tcPr marL="73152" marR="73152" marT="0" marB="0" anchor="ctr">
                    <a:solidFill>
                      <a:srgbClr val="EEF4F0"/>
                    </a:solidFill>
                  </a:tcPr>
                </a:tc>
                <a:tc>
                  <a:txBody>
                    <a:bodyPr/>
                    <a:lstStyle/>
                    <a:p>
                      <a:pPr algn="r"/>
                      <a:r>
                        <a:rPr sz="1200" b="1">
                          <a:solidFill>
                            <a:srgbClr val="111418"/>
                          </a:solidFill>
                          <a:latin typeface="Calibri"/>
                        </a:rPr>
                        <a:t>695, identical</a:t>
                      </a:r>
                    </a:p>
                  </a:txBody>
                  <a:tcPr marL="73152" marR="73152" marT="0" marB="0" anchor="ctr">
                    <a:solidFill>
                      <a:srgbClr val="EEF4F0"/>
                    </a:solidFill>
                  </a:tcPr>
                </a:tc>
              </a:tr>
            </a:tbl>
          </a:graphicData>
        </a:graphic>
      </p:graphicFrame>
      <p:sp>
        <p:nvSpPr>
          <p:cNvPr id="9" name="TextBox 8"/>
          <p:cNvSpPr txBox="1"/>
          <p:nvPr/>
        </p:nvSpPr>
        <p:spPr>
          <a:xfrm>
            <a:off x="6629400" y="3291840"/>
            <a:ext cx="4892040" cy="2194560"/>
          </a:xfrm>
          <a:prstGeom prst="rect">
            <a:avLst/>
          </a:prstGeom>
          <a:noFill/>
        </p:spPr>
        <p:txBody>
          <a:bodyPr wrap="square" anchor="t" lIns="0" rIns="0" tIns="0" bIns="0">
            <a:spAutoFit/>
          </a:bodyPr>
          <a:lstStyle/>
          <a:p>
            <a:pPr algn="l">
              <a:lnSpc>
                <a:spcPct val="112000"/>
              </a:lnSpc>
              <a:spcAft>
                <a:spcPts val="1000"/>
              </a:spcAft>
            </a:pPr>
            <a:r>
              <a:rPr sz="1300" b="0" i="0">
                <a:solidFill>
                  <a:srgbClr val="3B4250"/>
                </a:solidFill>
                <a:latin typeface="Calibri"/>
              </a:rPr>
              <a:t>Windowed inference reads one tile at a time from a temporary raster. Verified bit-identical: same count, same area, same hash of all box coordinates.</a:t>
            </a:r>
          </a:p>
          <a:p>
            <a:pPr algn="l">
              <a:lnSpc>
                <a:spcPct val="112000"/>
              </a:lnSpc>
              <a:spcAft>
                <a:spcPts val="0"/>
              </a:spcAft>
            </a:pPr>
            <a:r>
              <a:rPr sz="1300" b="0" i="0">
                <a:solidFill>
                  <a:srgbClr val="3B4250"/>
                </a:solidFill>
                <a:latin typeface="Calibri"/>
              </a:rPr>
              <a:t>Two interventions tested and discarded: disabling gradients changed nothing (the library already does it), and a 400 px tile did not cut memory while changing the result — 1379 trees against 695. Tile size is a far stronger lever on the count than on memory.</a:t>
            </a:r>
          </a:p>
        </p:txBody>
      </p:sp>
      <p:sp>
        <p:nvSpPr>
          <p:cNvPr id="10" name="Rectangle 9"/>
          <p:cNvSpPr/>
          <p:nvPr/>
        </p:nvSpPr>
        <p:spPr>
          <a:xfrm>
            <a:off x="6629400" y="5440680"/>
            <a:ext cx="4892040" cy="731520"/>
          </a:xfrm>
          <a:prstGeom prst="rect">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29400" y="5440680"/>
            <a:ext cx="41148" cy="731520"/>
          </a:xfrm>
          <a:prstGeom prst="rect">
            <a:avLst/>
          </a:prstGeom>
          <a:solidFill>
            <a:srgbClr val="1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5586984"/>
            <a:ext cx="4434840" cy="457200"/>
          </a:xfrm>
          <a:prstGeom prst="rect">
            <a:avLst/>
          </a:prstGeom>
          <a:noFill/>
        </p:spPr>
        <p:txBody>
          <a:bodyPr wrap="square" anchor="t" lIns="0" rIns="0" tIns="0" bIns="0">
            <a:spAutoFit/>
          </a:bodyPr>
          <a:lstStyle/>
          <a:p>
            <a:pPr algn="l">
              <a:lnSpc>
                <a:spcPct val="112000"/>
              </a:lnSpc>
              <a:spcAft>
                <a:spcPts val="0"/>
              </a:spcAft>
            </a:pPr>
            <a:r>
              <a:rPr sz="1400" b="0" i="0">
                <a:solidFill>
                  <a:srgbClr val="111418"/>
                </a:solidFill>
                <a:latin typeface="Calibri"/>
              </a:rPr>
              <a:t>Run-to-run variance is ±150 MB and the floor is ~1050 MB even on the small scene, so the cost is the model's forward pass — not the imagery.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960120"/>
          </a:xfrm>
          <a:prstGeom prst="rect">
            <a:avLst/>
          </a:prstGeom>
          <a:noFill/>
        </p:spPr>
        <p:txBody>
          <a:bodyPr wrap="square" anchor="t" lIns="0" rIns="0" tIns="0" bIns="0">
            <a:spAutoFit/>
          </a:bodyPr>
          <a:lstStyle/>
          <a:p>
            <a:pPr algn="l">
              <a:lnSpc>
                <a:spcPct val="100000"/>
              </a:lnSpc>
              <a:spcAft>
                <a:spcPts val="300"/>
              </a:spcAft>
            </a:pPr>
            <a:r>
              <a:rPr sz="1100" b="1" i="0">
                <a:solidFill>
                  <a:srgbClr val="1F6B47"/>
                </a:solidFill>
                <a:latin typeface="Calibri"/>
              </a:rPr>
              <a:t>LIMITS AND NEXT STEPS</a:t>
            </a:r>
          </a:p>
          <a:p>
            <a:pPr algn="l">
              <a:lnSpc>
                <a:spcPct val="95000"/>
              </a:lnSpc>
              <a:spcAft>
                <a:spcPts val="0"/>
              </a:spcAft>
            </a:pPr>
            <a:r>
              <a:rPr sz="2700" b="1" i="0">
                <a:solidFill>
                  <a:srgbClr val="111418"/>
                </a:solidFill>
                <a:latin typeface="Calibri"/>
              </a:rPr>
              <a:t>What I would not claim, and what I'd build next</a:t>
            </a:r>
          </a:p>
        </p:txBody>
      </p:sp>
      <p:cxnSp>
        <p:nvCxnSpPr>
          <p:cNvPr id="3" name="Connector 2"/>
          <p:cNvCxnSpPr/>
          <p:nvPr/>
        </p:nvCxnSpPr>
        <p:spPr>
          <a:xfrm>
            <a:off x="658368" y="1481328"/>
            <a:ext cx="10874959" cy="0"/>
          </a:xfrm>
          <a:prstGeom prst="line">
            <a:avLst/>
          </a:prstGeom>
          <a:ln w="12700">
            <a:solidFill>
              <a:srgbClr val="D8DD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002975" y="6291072"/>
            <a:ext cx="548640" cy="274320"/>
          </a:xfrm>
          <a:prstGeom prst="rect">
            <a:avLst/>
          </a:prstGeom>
          <a:noFill/>
        </p:spPr>
        <p:txBody>
          <a:bodyPr wrap="square" anchor="t" lIns="0" rIns="0" tIns="0" bIns="0">
            <a:spAutoFit/>
          </a:bodyPr>
          <a:lstStyle/>
          <a:p>
            <a:pPr algn="r">
              <a:lnSpc>
                <a:spcPct val="100000"/>
              </a:lnSpc>
              <a:spcAft>
                <a:spcPts val="600"/>
              </a:spcAft>
            </a:pPr>
            <a:r>
              <a:rPr sz="1000" b="0" i="0">
                <a:solidFill>
                  <a:srgbClr val="6B7482"/>
                </a:solidFill>
                <a:latin typeface="Calibri"/>
              </a:rPr>
              <a:t>12</a:t>
            </a:r>
          </a:p>
        </p:txBody>
      </p:sp>
      <p:sp>
        <p:nvSpPr>
          <p:cNvPr id="5" name="TextBox 4"/>
          <p:cNvSpPr txBox="1"/>
          <p:nvPr/>
        </p:nvSpPr>
        <p:spPr>
          <a:xfrm>
            <a:off x="658368" y="6291072"/>
            <a:ext cx="5486400" cy="274320"/>
          </a:xfrm>
          <a:prstGeom prst="rect">
            <a:avLst/>
          </a:prstGeom>
          <a:noFill/>
        </p:spPr>
        <p:txBody>
          <a:bodyPr wrap="square" anchor="t" lIns="0" rIns="0" tIns="0" bIns="0">
            <a:spAutoFit/>
          </a:bodyPr>
          <a:lstStyle/>
          <a:p>
            <a:pPr algn="l">
              <a:lnSpc>
                <a:spcPct val="100000"/>
              </a:lnSpc>
              <a:spcAft>
                <a:spcPts val="600"/>
              </a:spcAft>
            </a:pPr>
            <a:r>
              <a:rPr sz="1000" b="0" i="0">
                <a:solidFill>
                  <a:srgbClr val="6B7482"/>
                </a:solidFill>
                <a:latin typeface="Calibri"/>
              </a:rPr>
              <a:t>ForestLens  ·  tree-crown detection and canopy-area estimation</a:t>
            </a:r>
          </a:p>
        </p:txBody>
      </p:sp>
      <p:sp>
        <p:nvSpPr>
          <p:cNvPr id="6" name="TextBox 5"/>
          <p:cNvSpPr txBox="1"/>
          <p:nvPr/>
        </p:nvSpPr>
        <p:spPr>
          <a:xfrm>
            <a:off x="658368" y="1783080"/>
            <a:ext cx="5532120" cy="4023360"/>
          </a:xfrm>
          <a:prstGeom prst="rect">
            <a:avLst/>
          </a:prstGeom>
          <a:noFill/>
        </p:spPr>
        <p:txBody>
          <a:bodyPr wrap="square" anchor="t" lIns="0" rIns="0" tIns="0" bIns="0">
            <a:spAutoFit/>
          </a:bodyPr>
          <a:lstStyle/>
          <a:p>
            <a:pPr algn="l">
              <a:lnSpc>
                <a:spcPct val="100000"/>
              </a:lnSpc>
              <a:spcAft>
                <a:spcPts val="800"/>
              </a:spcAft>
            </a:pPr>
            <a:r>
              <a:rPr sz="1100" b="1" i="0">
                <a:solidFill>
                  <a:srgbClr val="9A6206"/>
                </a:solidFill>
                <a:latin typeface="Calibri"/>
              </a:rPr>
              <a:t>WHAT I WOULD NOT CLAIM</a:t>
            </a:r>
          </a:p>
          <a:p>
            <a:pPr>
              <a:lnSpc>
                <a:spcPct val="110000"/>
              </a:lnSpc>
              <a:spcAft>
                <a:spcPts val="900"/>
              </a:spcAft>
            </a:pPr>
            <a:r>
              <a:rPr b="1" sz="1350">
                <a:solidFill>
                  <a:srgbClr val="111418"/>
                </a:solidFill>
                <a:latin typeface="Calibri"/>
              </a:rPr>
              <a:t>No accuracy figure. </a:t>
            </a:r>
            <a:r>
              <a:rPr sz="1350">
                <a:solidFill>
                  <a:srgbClr val="3B4250"/>
                </a:solidFill>
                <a:latin typeface="Calibri"/>
              </a:rPr>
              <a:t>No labelled evaluation set exists for these scenes.</a:t>
            </a:r>
          </a:p>
          <a:p>
            <a:pPr>
              <a:lnSpc>
                <a:spcPct val="110000"/>
              </a:lnSpc>
              <a:spcAft>
                <a:spcPts val="900"/>
              </a:spcAft>
            </a:pPr>
            <a:r>
              <a:rPr b="1" sz="1350">
                <a:solidFill>
                  <a:srgbClr val="111418"/>
                </a:solidFill>
                <a:latin typeface="Calibri"/>
              </a:rPr>
              <a:t>Reference counts aren't ground truth. </a:t>
            </a:r>
            <a:r>
              <a:rPr sz="1350">
                <a:solidFill>
                  <a:srgbClr val="3B4250"/>
                </a:solidFill>
                <a:latin typeface="Calibri"/>
              </a:rPr>
              <a:t>Made by eye by the assistant that built the tool.</a:t>
            </a:r>
          </a:p>
          <a:p>
            <a:pPr>
              <a:lnSpc>
                <a:spcPct val="110000"/>
              </a:lnSpc>
              <a:spcAft>
                <a:spcPts val="900"/>
              </a:spcAft>
            </a:pPr>
            <a:r>
              <a:rPr b="1" sz="1350">
                <a:solidFill>
                  <a:srgbClr val="111418"/>
                </a:solidFill>
                <a:latin typeface="Calibri"/>
              </a:rPr>
              <a:t>Three scenes, two forest types. </a:t>
            </a:r>
            <a:r>
              <a:rPr sz="1350">
                <a:solidFill>
                  <a:srgbClr val="3B4250"/>
                </a:solidFill>
                <a:latin typeface="Calibri"/>
              </a:rPr>
              <a:t>Closure is confounded with structural domain shift.</a:t>
            </a:r>
          </a:p>
          <a:p>
            <a:pPr>
              <a:lnSpc>
                <a:spcPct val="110000"/>
              </a:lnSpc>
              <a:spcAft>
                <a:spcPts val="900"/>
              </a:spcAft>
            </a:pPr>
            <a:r>
              <a:rPr b="1" sz="1350">
                <a:solidFill>
                  <a:srgbClr val="111418"/>
                </a:solidFill>
                <a:latin typeface="Calibri"/>
              </a:rPr>
              <a:t>The upper cover bound is approximate. </a:t>
            </a:r>
            <a:r>
              <a:rPr sz="1350">
                <a:solidFill>
                  <a:srgbClr val="3B4250"/>
                </a:solidFill>
                <a:latin typeface="Calibri"/>
              </a:rPr>
              <a:t>It over-counts green water and under-counts shadowed canopy.</a:t>
            </a:r>
          </a:p>
          <a:p>
            <a:pPr>
              <a:lnSpc>
                <a:spcPct val="110000"/>
              </a:lnSpc>
              <a:spcAft>
                <a:spcPts val="900"/>
              </a:spcAft>
            </a:pPr>
            <a:r>
              <a:rPr b="1" sz="1350">
                <a:solidFill>
                  <a:srgbClr val="111418"/>
                </a:solidFill>
                <a:latin typeface="Calibri"/>
              </a:rPr>
              <a:t>Generalisation is untested. </a:t>
            </a:r>
            <a:r>
              <a:rPr sz="1350">
                <a:solidFill>
                  <a:srgbClr val="3B4250"/>
                </a:solidFill>
                <a:latin typeface="Calibri"/>
              </a:rPr>
              <a:t>Including — honestly — on Indian forests, which look structurally closer to the failure case.</a:t>
            </a:r>
          </a:p>
        </p:txBody>
      </p:sp>
      <p:sp>
        <p:nvSpPr>
          <p:cNvPr id="7" name="TextBox 6"/>
          <p:cNvSpPr txBox="1"/>
          <p:nvPr/>
        </p:nvSpPr>
        <p:spPr>
          <a:xfrm>
            <a:off x="6537960" y="1783080"/>
            <a:ext cx="4983480" cy="4023360"/>
          </a:xfrm>
          <a:prstGeom prst="rect">
            <a:avLst/>
          </a:prstGeom>
          <a:noFill/>
        </p:spPr>
        <p:txBody>
          <a:bodyPr wrap="square" anchor="t" lIns="0" rIns="0" tIns="0" bIns="0">
            <a:spAutoFit/>
          </a:bodyPr>
          <a:lstStyle/>
          <a:p>
            <a:pPr algn="l">
              <a:lnSpc>
                <a:spcPct val="100000"/>
              </a:lnSpc>
              <a:spcAft>
                <a:spcPts val="800"/>
              </a:spcAft>
            </a:pPr>
            <a:r>
              <a:rPr sz="1100" b="1" i="0">
                <a:solidFill>
                  <a:srgbClr val="1F6B47"/>
                </a:solidFill>
                <a:latin typeface="Calibri"/>
              </a:rPr>
              <a:t>WHAT I WOULD BUILD NEXT</a:t>
            </a:r>
          </a:p>
          <a:p>
            <a:pPr>
              <a:lnSpc>
                <a:spcPct val="110000"/>
              </a:lnSpc>
              <a:spcAft>
                <a:spcPts val="1000"/>
              </a:spcAft>
            </a:pPr>
            <a:r>
              <a:rPr b="1" sz="1350">
                <a:solidFill>
                  <a:srgbClr val="111418"/>
                </a:solidFill>
                <a:latin typeface="Calibri"/>
              </a:rPr>
              <a:t>1.  Expert or field reference counts. </a:t>
            </a:r>
            <a:r>
              <a:rPr sz="1350">
                <a:solidFill>
                  <a:srgbClr val="3B4250"/>
                </a:solidFill>
                <a:latin typeface="Calibri"/>
              </a:rPr>
              <a:t>Converts every “plausible” here into a measurement.</a:t>
            </a:r>
          </a:p>
          <a:p>
            <a:pPr>
              <a:lnSpc>
                <a:spcPct val="110000"/>
              </a:lnSpc>
              <a:spcAft>
                <a:spcPts val="1000"/>
              </a:spcAft>
            </a:pPr>
            <a:r>
              <a:rPr b="1" sz="1350">
                <a:solidFill>
                  <a:srgbClr val="111418"/>
                </a:solidFill>
                <a:latin typeface="Calibri"/>
              </a:rPr>
              <a:t>2.  Fine-tune on closed canopy. </a:t>
            </a:r>
            <a:r>
              <a:rPr sz="1350">
                <a:solidFill>
                  <a:srgbClr val="3B4250"/>
                </a:solidFill>
                <a:latin typeface="Calibri"/>
              </a:rPr>
              <a:t>Targets the dominant error — the 80% miss rate no threshold reaches.</a:t>
            </a:r>
          </a:p>
          <a:p>
            <a:pPr>
              <a:lnSpc>
                <a:spcPct val="110000"/>
              </a:lnSpc>
              <a:spcAft>
                <a:spcPts val="1000"/>
              </a:spcAft>
            </a:pPr>
            <a:r>
              <a:rPr b="1" sz="1350">
                <a:solidFill>
                  <a:srgbClr val="111418"/>
                </a:solidFill>
                <a:latin typeface="Calibri"/>
              </a:rPr>
              <a:t>3.  A canopy-vs-ground segmentation model. </a:t>
            </a:r>
            <a:r>
              <a:rPr sz="1350">
                <a:solidFill>
                  <a:srgbClr val="3B4250"/>
                </a:solidFill>
                <a:latin typeface="Calibri"/>
              </a:rPr>
              <a:t>Replaces the 75-point cover interval with an actual measurement.</a:t>
            </a:r>
          </a:p>
          <a:p>
            <a:pPr>
              <a:lnSpc>
                <a:spcPct val="110000"/>
              </a:lnSpc>
              <a:spcAft>
                <a:spcPts val="1000"/>
              </a:spcAft>
            </a:pPr>
            <a:r>
              <a:rPr b="1" sz="1350">
                <a:solidFill>
                  <a:srgbClr val="111418"/>
                </a:solidFill>
                <a:latin typeface="Calibri"/>
              </a:rPr>
              <a:t>4.  Height from lidar or photogrammetry. </a:t>
            </a:r>
            <a:r>
              <a:rPr sz="1350">
                <a:solidFill>
                  <a:srgbClr val="3B4250"/>
                </a:solidFill>
                <a:latin typeface="Calibri"/>
              </a:rPr>
              <a:t>Separates trees from grass, which RGB greenness cannot.</a:t>
            </a:r>
          </a:p>
        </p:txBody>
      </p:sp>
      <p:sp>
        <p:nvSpPr>
          <p:cNvPr id="8" name="Rectangle 7"/>
          <p:cNvSpPr/>
          <p:nvPr/>
        </p:nvSpPr>
        <p:spPr>
          <a:xfrm>
            <a:off x="658368" y="5532120"/>
            <a:ext cx="10874959" cy="822960"/>
          </a:xfrm>
          <a:prstGeom prst="rect">
            <a:avLst/>
          </a:prstGeom>
          <a:solidFill>
            <a:srgbClr val="EE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5532120"/>
            <a:ext cx="41148" cy="822960"/>
          </a:xfrm>
          <a:prstGeom prst="rect">
            <a:avLst/>
          </a:prstGeom>
          <a:solidFill>
            <a:srgbClr val="1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5678424"/>
            <a:ext cx="10417759" cy="548640"/>
          </a:xfrm>
          <a:prstGeom prst="rect">
            <a:avLst/>
          </a:prstGeom>
          <a:noFill/>
        </p:spPr>
        <p:txBody>
          <a:bodyPr wrap="square" anchor="t" lIns="0" rIns="0" tIns="0" bIns="0">
            <a:spAutoFit/>
          </a:bodyPr>
          <a:lstStyle/>
          <a:p>
            <a:pPr algn="l">
              <a:lnSpc>
                <a:spcPct val="112000"/>
              </a:lnSpc>
              <a:spcAft>
                <a:spcPts val="0"/>
              </a:spcAft>
            </a:pPr>
            <a:r>
              <a:rPr sz="1500" b="0" i="0">
                <a:solidFill>
                  <a:srgbClr val="111418"/>
                </a:solidFill>
                <a:latin typeface="Calibri"/>
              </a:rPr>
              <a:t>“Why should you trust the result?  Because I can show you every detected crown, where the resolution came from, the arithmetic behind the area, and the scene where it fails worst — none of it hidden behind a single confident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